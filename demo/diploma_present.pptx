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6"/>
  </p:notesMasterIdLst>
  <p:sldIdLst>
    <p:sldId id="256" r:id="rId2"/>
    <p:sldId id="258" r:id="rId3"/>
    <p:sldId id="260" r:id="rId4"/>
    <p:sldId id="259" r:id="rId5"/>
    <p:sldId id="261" r:id="rId6"/>
    <p:sldId id="277" r:id="rId7"/>
    <p:sldId id="257" r:id="rId8"/>
    <p:sldId id="262" r:id="rId9"/>
    <p:sldId id="263" r:id="rId10"/>
    <p:sldId id="264" r:id="rId11"/>
    <p:sldId id="265" r:id="rId12"/>
    <p:sldId id="266" r:id="rId13"/>
    <p:sldId id="267" r:id="rId14"/>
    <p:sldId id="268" r:id="rId15"/>
    <p:sldId id="269" r:id="rId16"/>
    <p:sldId id="270" r:id="rId17"/>
    <p:sldId id="278" r:id="rId18"/>
    <p:sldId id="272" r:id="rId19"/>
    <p:sldId id="273" r:id="rId20"/>
    <p:sldId id="274" r:id="rId21"/>
    <p:sldId id="279" r:id="rId22"/>
    <p:sldId id="275" r:id="rId23"/>
    <p:sldId id="280" r:id="rId24"/>
    <p:sldId id="281" r:id="rId25"/>
    <p:sldId id="282" r:id="rId26"/>
    <p:sldId id="283" r:id="rId27"/>
    <p:sldId id="284" r:id="rId28"/>
    <p:sldId id="285" r:id="rId29"/>
    <p:sldId id="286" r:id="rId30"/>
    <p:sldId id="287" r:id="rId31"/>
    <p:sldId id="288" r:id="rId32"/>
    <p:sldId id="276" r:id="rId33"/>
    <p:sldId id="289" r:id="rId34"/>
    <p:sldId id="290" r:id="rId35"/>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240"/>
    <p:restoredTop sz="94613"/>
  </p:normalViewPr>
  <p:slideViewPr>
    <p:cSldViewPr snapToGrid="0">
      <p:cViewPr>
        <p:scale>
          <a:sx n="81" d="100"/>
          <a:sy n="81" d="100"/>
        </p:scale>
        <p:origin x="1312" y="1000"/>
      </p:cViewPr>
      <p:guideLst>
        <p:guide pos="3840"/>
        <p:guide orient="horz" pos="21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BB0D98-A9E6-0B4F-8D10-E2D99EF0BCA1}" type="datetimeFigureOut">
              <a:rPr lang="en-RU" smtClean="0"/>
              <a:t>13.06.2026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8952B7-D9DC-5547-96AF-C0E02D89D01D}" type="slidenum">
              <a:rPr lang="en-RU" smtClean="0"/>
              <a:t>‹#›</a:t>
            </a:fld>
            <a:endParaRPr lang="en-RU"/>
          </a:p>
        </p:txBody>
      </p:sp>
    </p:spTree>
    <p:extLst>
      <p:ext uri="{BB962C8B-B14F-4D97-AF65-F5344CB8AC3E}">
        <p14:creationId xmlns:p14="http://schemas.microsoft.com/office/powerpoint/2010/main" val="3041596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3A22-BC35-C0B0-A5F4-5EAC93D138D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RU"/>
          </a:p>
        </p:txBody>
      </p:sp>
      <p:sp>
        <p:nvSpPr>
          <p:cNvPr id="3" name="Subtitle 2">
            <a:extLst>
              <a:ext uri="{FF2B5EF4-FFF2-40B4-BE49-F238E27FC236}">
                <a16:creationId xmlns:a16="http://schemas.microsoft.com/office/drawing/2014/main" id="{3BA350C9-2493-19F2-0AEF-346CF44734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RU"/>
          </a:p>
        </p:txBody>
      </p:sp>
      <p:sp>
        <p:nvSpPr>
          <p:cNvPr id="4" name="Date Placeholder 3">
            <a:extLst>
              <a:ext uri="{FF2B5EF4-FFF2-40B4-BE49-F238E27FC236}">
                <a16:creationId xmlns:a16="http://schemas.microsoft.com/office/drawing/2014/main" id="{BD282013-0C27-7CA1-A73C-D4962B60CC48}"/>
              </a:ext>
            </a:extLst>
          </p:cNvPr>
          <p:cNvSpPr>
            <a:spLocks noGrp="1"/>
          </p:cNvSpPr>
          <p:nvPr>
            <p:ph type="dt" sz="half" idx="10"/>
          </p:nvPr>
        </p:nvSpPr>
        <p:spPr/>
        <p:txBody>
          <a:bodyPr/>
          <a:lstStyle/>
          <a:p>
            <a:fld id="{2FE21494-477E-2C48-8EC6-03AEFE19A804}" type="datetime1">
              <a:rPr lang="ru-RU" smtClean="0"/>
              <a:t>13.06.2026</a:t>
            </a:fld>
            <a:endParaRPr lang="en-RU"/>
          </a:p>
        </p:txBody>
      </p:sp>
      <p:sp>
        <p:nvSpPr>
          <p:cNvPr id="5" name="Footer Placeholder 4">
            <a:extLst>
              <a:ext uri="{FF2B5EF4-FFF2-40B4-BE49-F238E27FC236}">
                <a16:creationId xmlns:a16="http://schemas.microsoft.com/office/drawing/2014/main" id="{DAFEA1B6-9E26-0A96-1610-DE7B9DB55F09}"/>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6" name="Slide Number Placeholder 5">
            <a:extLst>
              <a:ext uri="{FF2B5EF4-FFF2-40B4-BE49-F238E27FC236}">
                <a16:creationId xmlns:a16="http://schemas.microsoft.com/office/drawing/2014/main" id="{A4EF9268-2C27-D59C-D45E-7FD8884EE079}"/>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547671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0A357-D2E9-8420-07E6-B4272A3A4EBE}"/>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74E6EC1E-0E8E-C933-E91E-E9ABF4445C1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39E703BB-40D0-CD0A-8AA8-3B2EE52D5B86}"/>
              </a:ext>
            </a:extLst>
          </p:cNvPr>
          <p:cNvSpPr>
            <a:spLocks noGrp="1"/>
          </p:cNvSpPr>
          <p:nvPr>
            <p:ph type="dt" sz="half" idx="10"/>
          </p:nvPr>
        </p:nvSpPr>
        <p:spPr/>
        <p:txBody>
          <a:bodyPr/>
          <a:lstStyle/>
          <a:p>
            <a:fld id="{1F1DBC75-F1B7-814C-8E77-182EBBCCD64D}" type="datetime1">
              <a:rPr lang="ru-RU" smtClean="0"/>
              <a:t>13.06.2026</a:t>
            </a:fld>
            <a:endParaRPr lang="en-RU"/>
          </a:p>
        </p:txBody>
      </p:sp>
      <p:sp>
        <p:nvSpPr>
          <p:cNvPr id="5" name="Footer Placeholder 4">
            <a:extLst>
              <a:ext uri="{FF2B5EF4-FFF2-40B4-BE49-F238E27FC236}">
                <a16:creationId xmlns:a16="http://schemas.microsoft.com/office/drawing/2014/main" id="{1FA6A9C4-D881-4490-BA03-DD15C871A83C}"/>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6" name="Slide Number Placeholder 5">
            <a:extLst>
              <a:ext uri="{FF2B5EF4-FFF2-40B4-BE49-F238E27FC236}">
                <a16:creationId xmlns:a16="http://schemas.microsoft.com/office/drawing/2014/main" id="{87C13C13-288F-D8C0-D93E-0AA1C90154B4}"/>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257663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E8B5-26F1-C652-E47A-B14DFE7E998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RU"/>
          </a:p>
        </p:txBody>
      </p:sp>
      <p:sp>
        <p:nvSpPr>
          <p:cNvPr id="3" name="Text Placeholder 2">
            <a:extLst>
              <a:ext uri="{FF2B5EF4-FFF2-40B4-BE49-F238E27FC236}">
                <a16:creationId xmlns:a16="http://schemas.microsoft.com/office/drawing/2014/main" id="{8212130D-ACE5-D084-B78D-5A7BC92429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2EED43-B2DA-5038-12C7-68551BDD6797}"/>
              </a:ext>
            </a:extLst>
          </p:cNvPr>
          <p:cNvSpPr>
            <a:spLocks noGrp="1"/>
          </p:cNvSpPr>
          <p:nvPr>
            <p:ph type="dt" sz="half" idx="10"/>
          </p:nvPr>
        </p:nvSpPr>
        <p:spPr/>
        <p:txBody>
          <a:bodyPr/>
          <a:lstStyle/>
          <a:p>
            <a:fld id="{23C56B5B-CAFA-9F41-86AA-01393CAA4271}" type="datetime1">
              <a:rPr lang="ru-RU" smtClean="0"/>
              <a:t>13.06.2026</a:t>
            </a:fld>
            <a:endParaRPr lang="en-RU"/>
          </a:p>
        </p:txBody>
      </p:sp>
      <p:sp>
        <p:nvSpPr>
          <p:cNvPr id="5" name="Footer Placeholder 4">
            <a:extLst>
              <a:ext uri="{FF2B5EF4-FFF2-40B4-BE49-F238E27FC236}">
                <a16:creationId xmlns:a16="http://schemas.microsoft.com/office/drawing/2014/main" id="{7552B96B-4F4E-AC6A-3695-F668E788B9EF}"/>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6" name="Slide Number Placeholder 5">
            <a:extLst>
              <a:ext uri="{FF2B5EF4-FFF2-40B4-BE49-F238E27FC236}">
                <a16:creationId xmlns:a16="http://schemas.microsoft.com/office/drawing/2014/main" id="{910CCA5D-3CD9-EF65-F325-0F0E273E5DFA}"/>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2189371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B3AA0-FF17-E18D-88F6-1E9AA725D5C6}"/>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D48C4480-CB5A-6254-3B39-595256964D1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Content Placeholder 3">
            <a:extLst>
              <a:ext uri="{FF2B5EF4-FFF2-40B4-BE49-F238E27FC236}">
                <a16:creationId xmlns:a16="http://schemas.microsoft.com/office/drawing/2014/main" id="{5BE75C29-08E9-0192-FA9B-4A259F2EC7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Date Placeholder 4">
            <a:extLst>
              <a:ext uri="{FF2B5EF4-FFF2-40B4-BE49-F238E27FC236}">
                <a16:creationId xmlns:a16="http://schemas.microsoft.com/office/drawing/2014/main" id="{177051EF-C24C-0379-595A-EC02396CE8E8}"/>
              </a:ext>
            </a:extLst>
          </p:cNvPr>
          <p:cNvSpPr>
            <a:spLocks noGrp="1"/>
          </p:cNvSpPr>
          <p:nvPr>
            <p:ph type="dt" sz="half" idx="10"/>
          </p:nvPr>
        </p:nvSpPr>
        <p:spPr/>
        <p:txBody>
          <a:bodyPr/>
          <a:lstStyle/>
          <a:p>
            <a:fld id="{206779D1-353B-234A-8DAA-51518E2A1371}" type="datetime1">
              <a:rPr lang="ru-RU" smtClean="0"/>
              <a:t>13.06.2026</a:t>
            </a:fld>
            <a:endParaRPr lang="en-RU"/>
          </a:p>
        </p:txBody>
      </p:sp>
      <p:sp>
        <p:nvSpPr>
          <p:cNvPr id="6" name="Footer Placeholder 5">
            <a:extLst>
              <a:ext uri="{FF2B5EF4-FFF2-40B4-BE49-F238E27FC236}">
                <a16:creationId xmlns:a16="http://schemas.microsoft.com/office/drawing/2014/main" id="{757230AF-DF65-B3B0-B983-7E2B451F71C1}"/>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7" name="Slide Number Placeholder 6">
            <a:extLst>
              <a:ext uri="{FF2B5EF4-FFF2-40B4-BE49-F238E27FC236}">
                <a16:creationId xmlns:a16="http://schemas.microsoft.com/office/drawing/2014/main" id="{0AB7FAF3-43EE-69DF-4DB5-8BB08425FD92}"/>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3203161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76D6-E493-A0E8-0C4B-46100877A004}"/>
              </a:ext>
            </a:extLst>
          </p:cNvPr>
          <p:cNvSpPr>
            <a:spLocks noGrp="1"/>
          </p:cNvSpPr>
          <p:nvPr>
            <p:ph type="title"/>
          </p:nvPr>
        </p:nvSpPr>
        <p:spPr>
          <a:xfrm>
            <a:off x="839788" y="365125"/>
            <a:ext cx="10515600" cy="1325563"/>
          </a:xfrm>
        </p:spPr>
        <p:txBody>
          <a:bodyPr/>
          <a:lstStyle/>
          <a:p>
            <a:r>
              <a:rPr lang="en-GB"/>
              <a:t>Click to edit Master title style</a:t>
            </a:r>
            <a:endParaRPr lang="en-RU"/>
          </a:p>
        </p:txBody>
      </p:sp>
      <p:sp>
        <p:nvSpPr>
          <p:cNvPr id="3" name="Text Placeholder 2">
            <a:extLst>
              <a:ext uri="{FF2B5EF4-FFF2-40B4-BE49-F238E27FC236}">
                <a16:creationId xmlns:a16="http://schemas.microsoft.com/office/drawing/2014/main" id="{B26A6570-1403-5244-A1D6-BB064770B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908540F-82ED-6DA7-C7A9-94080316FB8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Text Placeholder 4">
            <a:extLst>
              <a:ext uri="{FF2B5EF4-FFF2-40B4-BE49-F238E27FC236}">
                <a16:creationId xmlns:a16="http://schemas.microsoft.com/office/drawing/2014/main" id="{B7A4D3AC-552C-F1B0-E98C-66B7A53748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85A287-03A4-415E-D121-0B2AB79743B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7" name="Date Placeholder 6">
            <a:extLst>
              <a:ext uri="{FF2B5EF4-FFF2-40B4-BE49-F238E27FC236}">
                <a16:creationId xmlns:a16="http://schemas.microsoft.com/office/drawing/2014/main" id="{5E53EDEB-19E6-7432-7B58-D8250F63319B}"/>
              </a:ext>
            </a:extLst>
          </p:cNvPr>
          <p:cNvSpPr>
            <a:spLocks noGrp="1"/>
          </p:cNvSpPr>
          <p:nvPr>
            <p:ph type="dt" sz="half" idx="10"/>
          </p:nvPr>
        </p:nvSpPr>
        <p:spPr/>
        <p:txBody>
          <a:bodyPr/>
          <a:lstStyle/>
          <a:p>
            <a:fld id="{96F64E0D-2FE6-8148-96C8-56A567C4AB4D}" type="datetime1">
              <a:rPr lang="ru-RU" smtClean="0"/>
              <a:t>13.06.2026</a:t>
            </a:fld>
            <a:endParaRPr lang="en-RU"/>
          </a:p>
        </p:txBody>
      </p:sp>
      <p:sp>
        <p:nvSpPr>
          <p:cNvPr id="8" name="Footer Placeholder 7">
            <a:extLst>
              <a:ext uri="{FF2B5EF4-FFF2-40B4-BE49-F238E27FC236}">
                <a16:creationId xmlns:a16="http://schemas.microsoft.com/office/drawing/2014/main" id="{218A1FD8-4C2A-A851-9D49-2FEF77E77B14}"/>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9" name="Slide Number Placeholder 8">
            <a:extLst>
              <a:ext uri="{FF2B5EF4-FFF2-40B4-BE49-F238E27FC236}">
                <a16:creationId xmlns:a16="http://schemas.microsoft.com/office/drawing/2014/main" id="{3C34EB49-22FC-7FA3-0684-DF5E7D639BB7}"/>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173553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0C58-7C14-99AE-A5E5-648CB77A9897}"/>
              </a:ext>
            </a:extLst>
          </p:cNvPr>
          <p:cNvSpPr>
            <a:spLocks noGrp="1"/>
          </p:cNvSpPr>
          <p:nvPr>
            <p:ph type="title"/>
          </p:nvPr>
        </p:nvSpPr>
        <p:spPr/>
        <p:txBody>
          <a:bodyPr/>
          <a:lstStyle/>
          <a:p>
            <a:r>
              <a:rPr lang="en-GB"/>
              <a:t>Click to edit Master title style</a:t>
            </a:r>
            <a:endParaRPr lang="en-RU"/>
          </a:p>
        </p:txBody>
      </p:sp>
      <p:sp>
        <p:nvSpPr>
          <p:cNvPr id="3" name="Date Placeholder 2">
            <a:extLst>
              <a:ext uri="{FF2B5EF4-FFF2-40B4-BE49-F238E27FC236}">
                <a16:creationId xmlns:a16="http://schemas.microsoft.com/office/drawing/2014/main" id="{3CD9A1E2-C3C5-84DE-D9F8-25B9C6EA07DC}"/>
              </a:ext>
            </a:extLst>
          </p:cNvPr>
          <p:cNvSpPr>
            <a:spLocks noGrp="1"/>
          </p:cNvSpPr>
          <p:nvPr>
            <p:ph type="dt" sz="half" idx="10"/>
          </p:nvPr>
        </p:nvSpPr>
        <p:spPr/>
        <p:txBody>
          <a:bodyPr/>
          <a:lstStyle/>
          <a:p>
            <a:fld id="{AFA81263-DBE2-284C-8AEE-67A3D8B8610F}" type="datetime1">
              <a:rPr lang="ru-RU" smtClean="0"/>
              <a:t>13.06.2026</a:t>
            </a:fld>
            <a:endParaRPr lang="en-RU"/>
          </a:p>
        </p:txBody>
      </p:sp>
      <p:sp>
        <p:nvSpPr>
          <p:cNvPr id="4" name="Footer Placeholder 3">
            <a:extLst>
              <a:ext uri="{FF2B5EF4-FFF2-40B4-BE49-F238E27FC236}">
                <a16:creationId xmlns:a16="http://schemas.microsoft.com/office/drawing/2014/main" id="{F36778D1-A690-DC06-C5DF-A13528D37022}"/>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5" name="Slide Number Placeholder 4">
            <a:extLst>
              <a:ext uri="{FF2B5EF4-FFF2-40B4-BE49-F238E27FC236}">
                <a16:creationId xmlns:a16="http://schemas.microsoft.com/office/drawing/2014/main" id="{5F94C5E5-E848-5A0B-586E-43AD7603FDC8}"/>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56146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8207B9-0151-C177-DA21-C5D8175954AF}"/>
              </a:ext>
            </a:extLst>
          </p:cNvPr>
          <p:cNvSpPr>
            <a:spLocks noGrp="1"/>
          </p:cNvSpPr>
          <p:nvPr>
            <p:ph type="dt" sz="half" idx="10"/>
          </p:nvPr>
        </p:nvSpPr>
        <p:spPr/>
        <p:txBody>
          <a:bodyPr/>
          <a:lstStyle/>
          <a:p>
            <a:fld id="{325545FA-D5FE-8644-A23B-AA5131929E0A}" type="datetime1">
              <a:rPr lang="ru-RU" smtClean="0"/>
              <a:t>13.06.2026</a:t>
            </a:fld>
            <a:endParaRPr lang="en-RU"/>
          </a:p>
        </p:txBody>
      </p:sp>
      <p:sp>
        <p:nvSpPr>
          <p:cNvPr id="3" name="Footer Placeholder 2">
            <a:extLst>
              <a:ext uri="{FF2B5EF4-FFF2-40B4-BE49-F238E27FC236}">
                <a16:creationId xmlns:a16="http://schemas.microsoft.com/office/drawing/2014/main" id="{BA87514C-E38C-D056-6152-74017828BDA5}"/>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4" name="Slide Number Placeholder 3">
            <a:extLst>
              <a:ext uri="{FF2B5EF4-FFF2-40B4-BE49-F238E27FC236}">
                <a16:creationId xmlns:a16="http://schemas.microsoft.com/office/drawing/2014/main" id="{58B3BD62-FA42-CB7C-D7E4-D9CBC48FF0A4}"/>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340758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94C21-B3D0-46B3-CD56-0CD85DB311A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Content Placeholder 2">
            <a:extLst>
              <a:ext uri="{FF2B5EF4-FFF2-40B4-BE49-F238E27FC236}">
                <a16:creationId xmlns:a16="http://schemas.microsoft.com/office/drawing/2014/main" id="{83FE22EC-0EC5-19DA-1A0B-292502E701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Text Placeholder 3">
            <a:extLst>
              <a:ext uri="{FF2B5EF4-FFF2-40B4-BE49-F238E27FC236}">
                <a16:creationId xmlns:a16="http://schemas.microsoft.com/office/drawing/2014/main" id="{6499AFC1-0A16-CFCA-6DF1-F75868848C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CA786A-DC82-7A9B-BACE-EADF118559B0}"/>
              </a:ext>
            </a:extLst>
          </p:cNvPr>
          <p:cNvSpPr>
            <a:spLocks noGrp="1"/>
          </p:cNvSpPr>
          <p:nvPr>
            <p:ph type="dt" sz="half" idx="10"/>
          </p:nvPr>
        </p:nvSpPr>
        <p:spPr/>
        <p:txBody>
          <a:bodyPr/>
          <a:lstStyle/>
          <a:p>
            <a:fld id="{AF64442F-A5AC-DE4D-B94E-7BE2ABB7D96B}" type="datetime1">
              <a:rPr lang="ru-RU" smtClean="0"/>
              <a:t>13.06.2026</a:t>
            </a:fld>
            <a:endParaRPr lang="en-RU"/>
          </a:p>
        </p:txBody>
      </p:sp>
      <p:sp>
        <p:nvSpPr>
          <p:cNvPr id="6" name="Footer Placeholder 5">
            <a:extLst>
              <a:ext uri="{FF2B5EF4-FFF2-40B4-BE49-F238E27FC236}">
                <a16:creationId xmlns:a16="http://schemas.microsoft.com/office/drawing/2014/main" id="{9EAF0307-B8DB-B921-3234-F5CFBAD43BA0}"/>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7" name="Slide Number Placeholder 6">
            <a:extLst>
              <a:ext uri="{FF2B5EF4-FFF2-40B4-BE49-F238E27FC236}">
                <a16:creationId xmlns:a16="http://schemas.microsoft.com/office/drawing/2014/main" id="{85ABFD82-1DFB-6A57-BED0-8C5C925EB8C1}"/>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3118661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D638-5504-07C0-CBA4-9D0C98FE67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Picture Placeholder 2">
            <a:extLst>
              <a:ext uri="{FF2B5EF4-FFF2-40B4-BE49-F238E27FC236}">
                <a16:creationId xmlns:a16="http://schemas.microsoft.com/office/drawing/2014/main" id="{77D2445C-C0A2-EB22-D9C5-11D8131CC2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U"/>
          </a:p>
        </p:txBody>
      </p:sp>
      <p:sp>
        <p:nvSpPr>
          <p:cNvPr id="4" name="Text Placeholder 3">
            <a:extLst>
              <a:ext uri="{FF2B5EF4-FFF2-40B4-BE49-F238E27FC236}">
                <a16:creationId xmlns:a16="http://schemas.microsoft.com/office/drawing/2014/main" id="{5D565D62-1E22-CBD0-6580-EDEDCB2975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6C42C8-FD44-FF40-152A-5794EF917E3D}"/>
              </a:ext>
            </a:extLst>
          </p:cNvPr>
          <p:cNvSpPr>
            <a:spLocks noGrp="1"/>
          </p:cNvSpPr>
          <p:nvPr>
            <p:ph type="dt" sz="half" idx="10"/>
          </p:nvPr>
        </p:nvSpPr>
        <p:spPr/>
        <p:txBody>
          <a:bodyPr/>
          <a:lstStyle/>
          <a:p>
            <a:fld id="{6A641D71-273F-B245-A59F-236C883EA109}" type="datetime1">
              <a:rPr lang="ru-RU" smtClean="0"/>
              <a:t>13.06.2026</a:t>
            </a:fld>
            <a:endParaRPr lang="en-RU"/>
          </a:p>
        </p:txBody>
      </p:sp>
      <p:sp>
        <p:nvSpPr>
          <p:cNvPr id="6" name="Footer Placeholder 5">
            <a:extLst>
              <a:ext uri="{FF2B5EF4-FFF2-40B4-BE49-F238E27FC236}">
                <a16:creationId xmlns:a16="http://schemas.microsoft.com/office/drawing/2014/main" id="{EDDC7974-8929-F4C9-3ABF-3B32B44F2611}"/>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7" name="Slide Number Placeholder 6">
            <a:extLst>
              <a:ext uri="{FF2B5EF4-FFF2-40B4-BE49-F238E27FC236}">
                <a16:creationId xmlns:a16="http://schemas.microsoft.com/office/drawing/2014/main" id="{D3BF4304-B79C-0B39-DC74-3F7360B2ED07}"/>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3015602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923B-9583-4B75-F7C6-29B26644EF7B}"/>
              </a:ext>
            </a:extLst>
          </p:cNvPr>
          <p:cNvSpPr>
            <a:spLocks noGrp="1"/>
          </p:cNvSpPr>
          <p:nvPr>
            <p:ph type="title"/>
          </p:nvPr>
        </p:nvSpPr>
        <p:spPr/>
        <p:txBody>
          <a:bodyPr/>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96FE731E-1B56-5E94-9561-A8BF03A403C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B4D2F610-0675-E9D8-B088-3F609B5442FA}"/>
              </a:ext>
            </a:extLst>
          </p:cNvPr>
          <p:cNvSpPr>
            <a:spLocks noGrp="1"/>
          </p:cNvSpPr>
          <p:nvPr>
            <p:ph type="dt" sz="half" idx="10"/>
          </p:nvPr>
        </p:nvSpPr>
        <p:spPr/>
        <p:txBody>
          <a:bodyPr/>
          <a:lstStyle/>
          <a:p>
            <a:fld id="{E414DE2A-3778-AB46-B0D0-46783F0FD19A}" type="datetime1">
              <a:rPr lang="ru-RU" smtClean="0"/>
              <a:t>13.06.2026</a:t>
            </a:fld>
            <a:endParaRPr lang="en-RU"/>
          </a:p>
        </p:txBody>
      </p:sp>
      <p:sp>
        <p:nvSpPr>
          <p:cNvPr id="5" name="Footer Placeholder 4">
            <a:extLst>
              <a:ext uri="{FF2B5EF4-FFF2-40B4-BE49-F238E27FC236}">
                <a16:creationId xmlns:a16="http://schemas.microsoft.com/office/drawing/2014/main" id="{75ADCF1F-8D08-25FA-6239-119151E1EF38}"/>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6" name="Slide Number Placeholder 5">
            <a:extLst>
              <a:ext uri="{FF2B5EF4-FFF2-40B4-BE49-F238E27FC236}">
                <a16:creationId xmlns:a16="http://schemas.microsoft.com/office/drawing/2014/main" id="{CC468EA7-A3A1-F051-B6B8-AA2D8EADBD57}"/>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182762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8B5CA6-2636-E1B6-1D8F-6145C7CF3C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94ADF546-03F4-7B70-564B-D742299E2B4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A05680D8-2025-ECF9-4B1D-11E7D3C2B133}"/>
              </a:ext>
            </a:extLst>
          </p:cNvPr>
          <p:cNvSpPr>
            <a:spLocks noGrp="1"/>
          </p:cNvSpPr>
          <p:nvPr>
            <p:ph type="dt" sz="half" idx="10"/>
          </p:nvPr>
        </p:nvSpPr>
        <p:spPr/>
        <p:txBody>
          <a:bodyPr/>
          <a:lstStyle/>
          <a:p>
            <a:fld id="{D20DC4F4-60C7-334C-A748-D8C920A9217B}" type="datetime1">
              <a:rPr lang="ru-RU" smtClean="0"/>
              <a:t>13.06.2026</a:t>
            </a:fld>
            <a:endParaRPr lang="en-RU"/>
          </a:p>
        </p:txBody>
      </p:sp>
      <p:sp>
        <p:nvSpPr>
          <p:cNvPr id="5" name="Footer Placeholder 4">
            <a:extLst>
              <a:ext uri="{FF2B5EF4-FFF2-40B4-BE49-F238E27FC236}">
                <a16:creationId xmlns:a16="http://schemas.microsoft.com/office/drawing/2014/main" id="{3270666A-2F06-F94C-BFA0-8DEEA340E9A1}"/>
              </a:ext>
            </a:extLst>
          </p:cNvPr>
          <p:cNvSpPr>
            <a:spLocks noGrp="1"/>
          </p:cNvSpPr>
          <p:nvPr>
            <p:ph type="ftr" sz="quarter" idx="11"/>
          </p:nvPr>
        </p:nvSpPr>
        <p:spPr/>
        <p:txBody>
          <a:bodyPr/>
          <a:lstStyle/>
          <a:p>
            <a:r>
              <a:rPr lang="ru-RU"/>
              <a:t>Исследование методов определения характеристик транспортного средства по видеоизображениям</a:t>
            </a:r>
            <a:endParaRPr lang="en-RU"/>
          </a:p>
        </p:txBody>
      </p:sp>
      <p:sp>
        <p:nvSpPr>
          <p:cNvPr id="6" name="Slide Number Placeholder 5">
            <a:extLst>
              <a:ext uri="{FF2B5EF4-FFF2-40B4-BE49-F238E27FC236}">
                <a16:creationId xmlns:a16="http://schemas.microsoft.com/office/drawing/2014/main" id="{CE3601B7-F139-F5D8-07AC-FFAAD15779BC}"/>
              </a:ext>
            </a:extLst>
          </p:cNvPr>
          <p:cNvSpPr>
            <a:spLocks noGrp="1"/>
          </p:cNvSpPr>
          <p:nvPr>
            <p:ph type="sldNum" sz="quarter" idx="12"/>
          </p:nvPr>
        </p:nvSpPr>
        <p:spPr/>
        <p:txBody>
          <a:bodyPr/>
          <a:lstStyle/>
          <a:p>
            <a:fld id="{A825137D-5D54-8448-BF1E-32A34E891867}" type="slidenum">
              <a:rPr lang="en-RU" smtClean="0"/>
              <a:t>‹#›</a:t>
            </a:fld>
            <a:endParaRPr lang="en-RU"/>
          </a:p>
        </p:txBody>
      </p:sp>
    </p:spTree>
    <p:extLst>
      <p:ext uri="{BB962C8B-B14F-4D97-AF65-F5344CB8AC3E}">
        <p14:creationId xmlns:p14="http://schemas.microsoft.com/office/powerpoint/2010/main" val="3057470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DD4A4F-A39A-72D9-FB68-BB8BD2B950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E4F1DD40-6220-B6E3-CDFC-3ED8FB3322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28FE2F1A-6763-7A93-AA68-14845BF07D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3A7853-101D-1C4A-BDEF-8DFFEE293F74}" type="datetime1">
              <a:rPr lang="ru-RU" smtClean="0"/>
              <a:t>13.06.2026</a:t>
            </a:fld>
            <a:endParaRPr lang="en-RU"/>
          </a:p>
        </p:txBody>
      </p:sp>
      <p:sp>
        <p:nvSpPr>
          <p:cNvPr id="5" name="Footer Placeholder 4">
            <a:extLst>
              <a:ext uri="{FF2B5EF4-FFF2-40B4-BE49-F238E27FC236}">
                <a16:creationId xmlns:a16="http://schemas.microsoft.com/office/drawing/2014/main" id="{3BF1069A-52FB-8DF0-28E5-8034BE4FA2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ru-RU"/>
              <a:t>Исследование методов определения характеристик транспортного средства по видеоизображениям</a:t>
            </a:r>
            <a:endParaRPr lang="en-RU"/>
          </a:p>
        </p:txBody>
      </p:sp>
      <p:sp>
        <p:nvSpPr>
          <p:cNvPr id="6" name="Slide Number Placeholder 5">
            <a:extLst>
              <a:ext uri="{FF2B5EF4-FFF2-40B4-BE49-F238E27FC236}">
                <a16:creationId xmlns:a16="http://schemas.microsoft.com/office/drawing/2014/main" id="{EE13459F-F6EF-1A3B-3557-F12E3C77E1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137D-5D54-8448-BF1E-32A34E891867}" type="slidenum">
              <a:rPr lang="en-RU" smtClean="0"/>
              <a:t>‹#›</a:t>
            </a:fld>
            <a:endParaRPr lang="en-RU"/>
          </a:p>
        </p:txBody>
      </p:sp>
    </p:spTree>
    <p:extLst>
      <p:ext uri="{BB962C8B-B14F-4D97-AF65-F5344CB8AC3E}">
        <p14:creationId xmlns:p14="http://schemas.microsoft.com/office/powerpoint/2010/main" val="4031964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1C4B6-0FCC-BDE3-8D22-FBAE826B099F}"/>
              </a:ext>
            </a:extLst>
          </p:cNvPr>
          <p:cNvSpPr>
            <a:spLocks noGrp="1"/>
          </p:cNvSpPr>
          <p:nvPr>
            <p:ph type="ctrTitle"/>
          </p:nvPr>
        </p:nvSpPr>
        <p:spPr>
          <a:xfrm>
            <a:off x="701457" y="1765655"/>
            <a:ext cx="11022905" cy="2387600"/>
          </a:xfrm>
        </p:spPr>
        <p:txBody>
          <a:bodyPr>
            <a:noAutofit/>
          </a:bodyPr>
          <a:lstStyle/>
          <a:p>
            <a:r>
              <a:rPr lang="ru-RU" sz="4800" dirty="0">
                <a:solidFill>
                  <a:schemeClr val="tx2">
                    <a:lumMod val="75000"/>
                    <a:lumOff val="25000"/>
                  </a:schemeClr>
                </a:solidFill>
              </a:rPr>
              <a:t>Исследование методов определения характеристик транспортного средства</a:t>
            </a:r>
            <a:br>
              <a:rPr lang="ru-RU" sz="4800" dirty="0">
                <a:solidFill>
                  <a:schemeClr val="tx2">
                    <a:lumMod val="75000"/>
                    <a:lumOff val="25000"/>
                  </a:schemeClr>
                </a:solidFill>
              </a:rPr>
            </a:br>
            <a:r>
              <a:rPr lang="ru-RU" sz="4800" dirty="0">
                <a:solidFill>
                  <a:schemeClr val="tx2">
                    <a:lumMod val="75000"/>
                    <a:lumOff val="25000"/>
                  </a:schemeClr>
                </a:solidFill>
              </a:rPr>
              <a:t>по видеоизображениям</a:t>
            </a:r>
            <a:endParaRPr lang="en-RU" sz="4800" dirty="0">
              <a:solidFill>
                <a:schemeClr val="tx2">
                  <a:lumMod val="75000"/>
                  <a:lumOff val="25000"/>
                </a:schemeClr>
              </a:solidFill>
            </a:endParaRPr>
          </a:p>
        </p:txBody>
      </p:sp>
      <p:sp>
        <p:nvSpPr>
          <p:cNvPr id="3" name="Subtitle 2">
            <a:extLst>
              <a:ext uri="{FF2B5EF4-FFF2-40B4-BE49-F238E27FC236}">
                <a16:creationId xmlns:a16="http://schemas.microsoft.com/office/drawing/2014/main" id="{1F3B2D00-AE31-AF6C-58BD-4C62438B4BE0}"/>
              </a:ext>
            </a:extLst>
          </p:cNvPr>
          <p:cNvSpPr>
            <a:spLocks noGrp="1"/>
          </p:cNvSpPr>
          <p:nvPr>
            <p:ph type="subTitle" idx="1"/>
          </p:nvPr>
        </p:nvSpPr>
        <p:spPr>
          <a:xfrm>
            <a:off x="2776603" y="4624307"/>
            <a:ext cx="9144000" cy="969962"/>
          </a:xfrm>
        </p:spPr>
        <p:txBody>
          <a:bodyPr/>
          <a:lstStyle/>
          <a:p>
            <a:pPr algn="r"/>
            <a:r>
              <a:rPr lang="ru-RU" dirty="0"/>
              <a:t>Студент: Клименко Виталий Евгеньевич</a:t>
            </a:r>
          </a:p>
          <a:p>
            <a:pPr algn="r"/>
            <a:r>
              <a:rPr lang="ru-RU" dirty="0"/>
              <a:t>Научный руководитель: Назаров Алексей Николаевич</a:t>
            </a:r>
            <a:endParaRPr lang="en-RU" dirty="0"/>
          </a:p>
        </p:txBody>
      </p:sp>
      <p:pic>
        <p:nvPicPr>
          <p:cNvPr id="6" name="Picture 5">
            <a:extLst>
              <a:ext uri="{FF2B5EF4-FFF2-40B4-BE49-F238E27FC236}">
                <a16:creationId xmlns:a16="http://schemas.microsoft.com/office/drawing/2014/main" id="{4CD65828-EAA2-A234-796C-2B958BCA12FB}"/>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1322651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3936-1239-8EDA-98CB-29162014FCAF}"/>
              </a:ext>
            </a:extLst>
          </p:cNvPr>
          <p:cNvSpPr>
            <a:spLocks noGrp="1"/>
          </p:cNvSpPr>
          <p:nvPr>
            <p:ph type="title"/>
          </p:nvPr>
        </p:nvSpPr>
        <p:spPr/>
        <p:txBody>
          <a:bodyPr/>
          <a:lstStyle/>
          <a:p>
            <a:r>
              <a:rPr lang="ru-RU" dirty="0">
                <a:solidFill>
                  <a:schemeClr val="tx2">
                    <a:lumMod val="75000"/>
                    <a:lumOff val="25000"/>
                  </a:schemeClr>
                </a:solidFill>
              </a:rPr>
              <a:t>Актуальность ВКР</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94998996-C094-2915-6732-576D8BCD7DA2}"/>
              </a:ext>
            </a:extLst>
          </p:cNvPr>
          <p:cNvSpPr>
            <a:spLocks noGrp="1"/>
          </p:cNvSpPr>
          <p:nvPr>
            <p:ph idx="1"/>
          </p:nvPr>
        </p:nvSpPr>
        <p:spPr/>
        <p:txBody>
          <a:bodyPr>
            <a:normAutofit/>
          </a:bodyPr>
          <a:lstStyle/>
          <a:p>
            <a:pPr marL="0" indent="0">
              <a:buNone/>
            </a:pPr>
            <a:r>
              <a:rPr lang="ru-RU" dirty="0"/>
              <a:t>Автоматическое определение характеристик автомобиля представляет практический интерес. Такие задачи как определение государственного регистрационного знака, марки, модели и цвета особенно остро требуют качественного решения в наши дни, так как количество ТС увеличивается и, как следствие, ручная обработка является неэффективной и трудоёмкой.</a:t>
            </a:r>
            <a:endParaRPr lang="en-RU" dirty="0"/>
          </a:p>
        </p:txBody>
      </p:sp>
      <p:sp>
        <p:nvSpPr>
          <p:cNvPr id="5" name="Slide Number Placeholder 4">
            <a:extLst>
              <a:ext uri="{FF2B5EF4-FFF2-40B4-BE49-F238E27FC236}">
                <a16:creationId xmlns:a16="http://schemas.microsoft.com/office/drawing/2014/main" id="{BF81E768-BACD-C334-EBD7-3CA90FF3DA24}"/>
              </a:ext>
            </a:extLst>
          </p:cNvPr>
          <p:cNvSpPr>
            <a:spLocks noGrp="1"/>
          </p:cNvSpPr>
          <p:nvPr>
            <p:ph type="sldNum" sz="quarter" idx="12"/>
          </p:nvPr>
        </p:nvSpPr>
        <p:spPr/>
        <p:txBody>
          <a:bodyPr/>
          <a:lstStyle/>
          <a:p>
            <a:fld id="{A825137D-5D54-8448-BF1E-32A34E891867}" type="slidenum">
              <a:rPr lang="en-RU" smtClean="0"/>
              <a:t>2</a:t>
            </a:fld>
            <a:endParaRPr lang="en-RU"/>
          </a:p>
        </p:txBody>
      </p:sp>
      <p:pic>
        <p:nvPicPr>
          <p:cNvPr id="6" name="Picture 5">
            <a:extLst>
              <a:ext uri="{FF2B5EF4-FFF2-40B4-BE49-F238E27FC236}">
                <a16:creationId xmlns:a16="http://schemas.microsoft.com/office/drawing/2014/main" id="{52EFCDFD-F88D-83BF-ADB7-8795C357AD0C}"/>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1732697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80EC-BDBE-BC22-3172-17A5A9E7DB10}"/>
              </a:ext>
            </a:extLst>
          </p:cNvPr>
          <p:cNvSpPr>
            <a:spLocks noGrp="1"/>
          </p:cNvSpPr>
          <p:nvPr>
            <p:ph type="title"/>
          </p:nvPr>
        </p:nvSpPr>
        <p:spPr/>
        <p:txBody>
          <a:bodyPr/>
          <a:lstStyle/>
          <a:p>
            <a:r>
              <a:rPr lang="ru-RU" dirty="0">
                <a:solidFill>
                  <a:schemeClr val="tx2">
                    <a:lumMod val="75000"/>
                    <a:lumOff val="25000"/>
                  </a:schemeClr>
                </a:solidFill>
              </a:rPr>
              <a:t>Цель ВКР</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C7BDA005-CEC2-4218-BA4F-3BE8AEED6033}"/>
              </a:ext>
            </a:extLst>
          </p:cNvPr>
          <p:cNvSpPr>
            <a:spLocks noGrp="1"/>
          </p:cNvSpPr>
          <p:nvPr>
            <p:ph idx="1"/>
          </p:nvPr>
        </p:nvSpPr>
        <p:spPr/>
        <p:txBody>
          <a:bodyPr/>
          <a:lstStyle/>
          <a:p>
            <a:pPr marL="0" indent="0">
              <a:buNone/>
            </a:pPr>
            <a:r>
              <a:rPr lang="ru-RU" dirty="0"/>
              <a:t>Цель — разработка системы автоматического определения цвета, типа кузова и номерного знака автомобиля по видеопотоку.</a:t>
            </a:r>
            <a:endParaRPr lang="en-RU" dirty="0"/>
          </a:p>
        </p:txBody>
      </p:sp>
      <p:sp>
        <p:nvSpPr>
          <p:cNvPr id="4" name="Slide Number Placeholder 3">
            <a:extLst>
              <a:ext uri="{FF2B5EF4-FFF2-40B4-BE49-F238E27FC236}">
                <a16:creationId xmlns:a16="http://schemas.microsoft.com/office/drawing/2014/main" id="{0BFC5C8C-9EBD-8414-CC7D-46B772A21C44}"/>
              </a:ext>
            </a:extLst>
          </p:cNvPr>
          <p:cNvSpPr>
            <a:spLocks noGrp="1"/>
          </p:cNvSpPr>
          <p:nvPr>
            <p:ph type="sldNum" sz="quarter" idx="12"/>
          </p:nvPr>
        </p:nvSpPr>
        <p:spPr/>
        <p:txBody>
          <a:bodyPr/>
          <a:lstStyle/>
          <a:p>
            <a:fld id="{A825137D-5D54-8448-BF1E-32A34E891867}" type="slidenum">
              <a:rPr lang="en-RU" smtClean="0"/>
              <a:t>3</a:t>
            </a:fld>
            <a:endParaRPr lang="en-RU"/>
          </a:p>
        </p:txBody>
      </p:sp>
      <p:pic>
        <p:nvPicPr>
          <p:cNvPr id="5" name="Picture 4">
            <a:extLst>
              <a:ext uri="{FF2B5EF4-FFF2-40B4-BE49-F238E27FC236}">
                <a16:creationId xmlns:a16="http://schemas.microsoft.com/office/drawing/2014/main" id="{55566DA4-1A92-CC11-0538-C935FB7BE6AD}"/>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141104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758E-9F50-B5D0-C082-9A8BDA086082}"/>
              </a:ext>
            </a:extLst>
          </p:cNvPr>
          <p:cNvSpPr>
            <a:spLocks noGrp="1"/>
          </p:cNvSpPr>
          <p:nvPr>
            <p:ph type="title"/>
          </p:nvPr>
        </p:nvSpPr>
        <p:spPr/>
        <p:txBody>
          <a:bodyPr/>
          <a:lstStyle/>
          <a:p>
            <a:pPr marL="0" indent="0">
              <a:buNone/>
            </a:pPr>
            <a:r>
              <a:rPr lang="ru-RU" dirty="0">
                <a:solidFill>
                  <a:schemeClr val="tx2">
                    <a:lumMod val="75000"/>
                    <a:lumOff val="25000"/>
                  </a:schemeClr>
                </a:solidFill>
              </a:rPr>
              <a:t>Задачи для теоретической части ВКР</a:t>
            </a:r>
          </a:p>
        </p:txBody>
      </p:sp>
      <p:sp>
        <p:nvSpPr>
          <p:cNvPr id="4" name="Slide Number Placeholder 3">
            <a:extLst>
              <a:ext uri="{FF2B5EF4-FFF2-40B4-BE49-F238E27FC236}">
                <a16:creationId xmlns:a16="http://schemas.microsoft.com/office/drawing/2014/main" id="{49E6FAE2-E17B-68D6-1987-20A736F8CA9E}"/>
              </a:ext>
            </a:extLst>
          </p:cNvPr>
          <p:cNvSpPr>
            <a:spLocks noGrp="1"/>
          </p:cNvSpPr>
          <p:nvPr>
            <p:ph type="sldNum" sz="quarter" idx="12"/>
          </p:nvPr>
        </p:nvSpPr>
        <p:spPr/>
        <p:txBody>
          <a:bodyPr/>
          <a:lstStyle/>
          <a:p>
            <a:fld id="{A825137D-5D54-8448-BF1E-32A34E891867}" type="slidenum">
              <a:rPr lang="en-RU" smtClean="0"/>
              <a:t>4</a:t>
            </a:fld>
            <a:endParaRPr lang="en-RU"/>
          </a:p>
        </p:txBody>
      </p:sp>
      <p:pic>
        <p:nvPicPr>
          <p:cNvPr id="6" name="Picture 5">
            <a:extLst>
              <a:ext uri="{FF2B5EF4-FFF2-40B4-BE49-F238E27FC236}">
                <a16:creationId xmlns:a16="http://schemas.microsoft.com/office/drawing/2014/main" id="{2FB1A2E2-E335-03DC-3C74-8E5517FC224A}"/>
              </a:ext>
            </a:extLst>
          </p:cNvPr>
          <p:cNvPicPr>
            <a:picLocks noChangeAspect="1"/>
          </p:cNvPicPr>
          <p:nvPr/>
        </p:nvPicPr>
        <p:blipFill>
          <a:blip r:embed="rId2"/>
          <a:stretch>
            <a:fillRect/>
          </a:stretch>
        </p:blipFill>
        <p:spPr>
          <a:xfrm>
            <a:off x="5318342" y="6197181"/>
            <a:ext cx="1555315" cy="561469"/>
          </a:xfrm>
          <a:prstGeom prst="rect">
            <a:avLst/>
          </a:prstGeom>
        </p:spPr>
      </p:pic>
      <p:sp>
        <p:nvSpPr>
          <p:cNvPr id="7" name="Content Placeholder 2">
            <a:extLst>
              <a:ext uri="{FF2B5EF4-FFF2-40B4-BE49-F238E27FC236}">
                <a16:creationId xmlns:a16="http://schemas.microsoft.com/office/drawing/2014/main" id="{412EB057-4775-3D10-F1DF-D94A4B51ACEC}"/>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ru-RU" dirty="0"/>
              <a:t>Провести анализ существующих методов детекции ТС, </a:t>
            </a:r>
            <a:r>
              <a:rPr lang="en-US" dirty="0"/>
              <a:t>ANPR, VMMR </a:t>
            </a:r>
            <a:r>
              <a:rPr lang="ru-RU" dirty="0"/>
              <a:t>и определения цвета</a:t>
            </a:r>
            <a:r>
              <a:rPr lang="en-US" dirty="0"/>
              <a:t>.</a:t>
            </a:r>
          </a:p>
          <a:p>
            <a:pPr marL="514350" indent="-514350">
              <a:buFont typeface="+mj-lt"/>
              <a:buAutoNum type="arabicPeriod"/>
            </a:pPr>
            <a:r>
              <a:rPr lang="ru-RU" dirty="0">
                <a:solidFill>
                  <a:srgbClr val="000000"/>
                </a:solidFill>
                <a:effectLst/>
                <a:latin typeface="Helvetica" pitchFamily="2" charset="0"/>
              </a:rPr>
              <a:t>Выбрать и обосновать архитектуры моделей для каждой подзадачи</a:t>
            </a:r>
            <a:r>
              <a:rPr lang="en-US" dirty="0">
                <a:solidFill>
                  <a:srgbClr val="000000"/>
                </a:solidFill>
                <a:latin typeface="Helvetica" pitchFamily="2" charset="0"/>
              </a:rPr>
              <a:t>.</a:t>
            </a:r>
            <a:endParaRPr lang="ru-RU" dirty="0">
              <a:solidFill>
                <a:srgbClr val="000000"/>
              </a:solidFill>
              <a:effectLst/>
              <a:latin typeface="Helvetica" pitchFamily="2" charset="0"/>
            </a:endParaRPr>
          </a:p>
          <a:p>
            <a:pPr marL="514350" indent="-514350">
              <a:buFont typeface="+mj-lt"/>
              <a:buAutoNum type="arabicPeriod"/>
            </a:pPr>
            <a:r>
              <a:rPr lang="ru-RU" dirty="0"/>
              <a:t>Выбрать датасеты для каждой задачи и обосновать их выбор.</a:t>
            </a:r>
          </a:p>
          <a:p>
            <a:endParaRPr lang="en-RU" dirty="0"/>
          </a:p>
        </p:txBody>
      </p:sp>
    </p:spTree>
    <p:extLst>
      <p:ext uri="{BB962C8B-B14F-4D97-AF65-F5344CB8AC3E}">
        <p14:creationId xmlns:p14="http://schemas.microsoft.com/office/powerpoint/2010/main" val="1095474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611E-EB57-C453-A3BB-44690A1E269F}"/>
              </a:ext>
            </a:extLst>
          </p:cNvPr>
          <p:cNvSpPr>
            <a:spLocks noGrp="1"/>
          </p:cNvSpPr>
          <p:nvPr>
            <p:ph type="title"/>
          </p:nvPr>
        </p:nvSpPr>
        <p:spPr/>
        <p:txBody>
          <a:bodyPr/>
          <a:lstStyle/>
          <a:p>
            <a:r>
              <a:rPr lang="ru-RU" dirty="0">
                <a:solidFill>
                  <a:schemeClr val="tx2">
                    <a:lumMod val="75000"/>
                    <a:lumOff val="25000"/>
                  </a:schemeClr>
                </a:solidFill>
              </a:rPr>
              <a:t>Задачи для практической части ВКР</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965808A-3A40-0672-FA42-796B4A9DD102}"/>
              </a:ext>
            </a:extLst>
          </p:cNvPr>
          <p:cNvSpPr>
            <a:spLocks noGrp="1"/>
          </p:cNvSpPr>
          <p:nvPr>
            <p:ph idx="1"/>
          </p:nvPr>
        </p:nvSpPr>
        <p:spPr/>
        <p:txBody>
          <a:bodyPr/>
          <a:lstStyle/>
          <a:p>
            <a:pPr marL="514350" indent="-514350">
              <a:buFont typeface="+mj-lt"/>
              <a:buAutoNum type="arabicPeriod"/>
            </a:pPr>
            <a:r>
              <a:rPr lang="ru-RU" dirty="0"/>
              <a:t>Детекция ТС и номерного знака в кадре</a:t>
            </a:r>
          </a:p>
          <a:p>
            <a:pPr marL="514350" indent="-514350">
              <a:buFont typeface="+mj-lt"/>
              <a:buAutoNum type="arabicPeriod"/>
            </a:pPr>
            <a:r>
              <a:rPr lang="ru-RU" dirty="0"/>
              <a:t>Оптическое распознавание символов номера</a:t>
            </a:r>
          </a:p>
          <a:p>
            <a:pPr marL="514350" indent="-514350">
              <a:buFont typeface="+mj-lt"/>
              <a:buAutoNum type="arabicPeriod"/>
            </a:pPr>
            <a:r>
              <a:rPr lang="ru-RU" dirty="0"/>
              <a:t>Классификация визуальных атрибутов: цвет и тип кузова.</a:t>
            </a:r>
          </a:p>
          <a:p>
            <a:pPr marL="514350" indent="-514350">
              <a:buFont typeface="+mj-lt"/>
              <a:buAutoNum type="arabicPeriod"/>
            </a:pPr>
            <a:r>
              <a:rPr lang="ru-RU" dirty="0"/>
              <a:t>Интегрировать всё в единый конвейер.</a:t>
            </a:r>
          </a:p>
        </p:txBody>
      </p:sp>
      <p:sp>
        <p:nvSpPr>
          <p:cNvPr id="4" name="Slide Number Placeholder 3">
            <a:extLst>
              <a:ext uri="{FF2B5EF4-FFF2-40B4-BE49-F238E27FC236}">
                <a16:creationId xmlns:a16="http://schemas.microsoft.com/office/drawing/2014/main" id="{B9DADACE-218B-461F-B06D-7C47E3B5DD81}"/>
              </a:ext>
            </a:extLst>
          </p:cNvPr>
          <p:cNvSpPr>
            <a:spLocks noGrp="1"/>
          </p:cNvSpPr>
          <p:nvPr>
            <p:ph type="sldNum" sz="quarter" idx="12"/>
          </p:nvPr>
        </p:nvSpPr>
        <p:spPr/>
        <p:txBody>
          <a:bodyPr/>
          <a:lstStyle/>
          <a:p>
            <a:fld id="{A825137D-5D54-8448-BF1E-32A34E891867}" type="slidenum">
              <a:rPr lang="en-RU" smtClean="0"/>
              <a:t>5</a:t>
            </a:fld>
            <a:endParaRPr lang="en-RU"/>
          </a:p>
        </p:txBody>
      </p:sp>
      <p:pic>
        <p:nvPicPr>
          <p:cNvPr id="5" name="Picture 4">
            <a:extLst>
              <a:ext uri="{FF2B5EF4-FFF2-40B4-BE49-F238E27FC236}">
                <a16:creationId xmlns:a16="http://schemas.microsoft.com/office/drawing/2014/main" id="{E5F3101E-8B2C-8B21-DABB-DF6EFCBC2E5C}"/>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299011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5388-8866-004E-A51B-FF5B29F9C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C1B7E-5F3A-8378-4094-2A9646ED5F20}"/>
              </a:ext>
            </a:extLst>
          </p:cNvPr>
          <p:cNvSpPr>
            <a:spLocks noGrp="1"/>
          </p:cNvSpPr>
          <p:nvPr>
            <p:ph type="title"/>
          </p:nvPr>
        </p:nvSpPr>
        <p:spPr>
          <a:xfrm>
            <a:off x="838200" y="2727325"/>
            <a:ext cx="10515600" cy="1325563"/>
          </a:xfrm>
        </p:spPr>
        <p:txBody>
          <a:bodyPr/>
          <a:lstStyle/>
          <a:p>
            <a:pPr algn="ctr"/>
            <a:r>
              <a:rPr lang="ru-RU" dirty="0">
                <a:solidFill>
                  <a:schemeClr val="tx2">
                    <a:lumMod val="75000"/>
                    <a:lumOff val="25000"/>
                  </a:schemeClr>
                </a:solidFill>
              </a:rPr>
              <a:t>Теоретическая часть ВКР</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04BE95C1-3C00-C4A8-5064-5EC9DC7DEBA5}"/>
              </a:ext>
            </a:extLst>
          </p:cNvPr>
          <p:cNvSpPr>
            <a:spLocks noGrp="1"/>
          </p:cNvSpPr>
          <p:nvPr>
            <p:ph type="sldNum" sz="quarter" idx="12"/>
          </p:nvPr>
        </p:nvSpPr>
        <p:spPr/>
        <p:txBody>
          <a:bodyPr/>
          <a:lstStyle/>
          <a:p>
            <a:fld id="{A825137D-5D54-8448-BF1E-32A34E891867}" type="slidenum">
              <a:rPr lang="en-RU" smtClean="0"/>
              <a:t>6</a:t>
            </a:fld>
            <a:endParaRPr lang="en-RU"/>
          </a:p>
        </p:txBody>
      </p:sp>
      <p:pic>
        <p:nvPicPr>
          <p:cNvPr id="5" name="Picture 4">
            <a:extLst>
              <a:ext uri="{FF2B5EF4-FFF2-40B4-BE49-F238E27FC236}">
                <a16:creationId xmlns:a16="http://schemas.microsoft.com/office/drawing/2014/main" id="{32C75661-11BF-0E60-8569-86D7990712AA}"/>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3708870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9B28A-2034-F4D4-803A-A6291EB63E97}"/>
              </a:ext>
            </a:extLst>
          </p:cNvPr>
          <p:cNvSpPr>
            <a:spLocks noGrp="1"/>
          </p:cNvSpPr>
          <p:nvPr>
            <p:ph type="title"/>
          </p:nvPr>
        </p:nvSpPr>
        <p:spPr>
          <a:xfrm>
            <a:off x="838200" y="2757591"/>
            <a:ext cx="10515600" cy="1325563"/>
          </a:xfrm>
        </p:spPr>
        <p:txBody>
          <a:bodyPr/>
          <a:lstStyle/>
          <a:p>
            <a:pPr algn="ctr"/>
            <a:r>
              <a:rPr lang="ru-RU" dirty="0">
                <a:solidFill>
                  <a:schemeClr val="tx2">
                    <a:lumMod val="75000"/>
                    <a:lumOff val="25000"/>
                  </a:schemeClr>
                </a:solidFill>
              </a:rPr>
              <a:t>Обзор используемых </a:t>
            </a:r>
            <a:r>
              <a:rPr lang="ru-RU" dirty="0" err="1">
                <a:solidFill>
                  <a:schemeClr val="tx2">
                    <a:lumMod val="75000"/>
                    <a:lumOff val="25000"/>
                  </a:schemeClr>
                </a:solidFill>
              </a:rPr>
              <a:t>архитекту</a:t>
            </a:r>
            <a:r>
              <a:rPr lang="en-US" dirty="0" err="1">
                <a:solidFill>
                  <a:schemeClr val="tx2">
                    <a:lumMod val="75000"/>
                    <a:lumOff val="25000"/>
                  </a:schemeClr>
                </a:solidFill>
              </a:rPr>
              <a:t>р</a:t>
            </a:r>
            <a:endParaRPr lang="en-RU" dirty="0">
              <a:solidFill>
                <a:schemeClr val="tx2">
                  <a:lumMod val="75000"/>
                  <a:lumOff val="25000"/>
                </a:schemeClr>
              </a:solidFill>
            </a:endParaRPr>
          </a:p>
        </p:txBody>
      </p:sp>
      <p:sp>
        <p:nvSpPr>
          <p:cNvPr id="5" name="Slide Number Placeholder 4">
            <a:extLst>
              <a:ext uri="{FF2B5EF4-FFF2-40B4-BE49-F238E27FC236}">
                <a16:creationId xmlns:a16="http://schemas.microsoft.com/office/drawing/2014/main" id="{7E3EAAED-EA82-3C5E-96FE-CFFC1CDAA6A0}"/>
              </a:ext>
            </a:extLst>
          </p:cNvPr>
          <p:cNvSpPr>
            <a:spLocks noGrp="1"/>
          </p:cNvSpPr>
          <p:nvPr>
            <p:ph type="sldNum" sz="quarter" idx="12"/>
          </p:nvPr>
        </p:nvSpPr>
        <p:spPr/>
        <p:txBody>
          <a:bodyPr/>
          <a:lstStyle/>
          <a:p>
            <a:fld id="{A825137D-5D54-8448-BF1E-32A34E891867}" type="slidenum">
              <a:rPr lang="en-RU" smtClean="0"/>
              <a:t>7</a:t>
            </a:fld>
            <a:endParaRPr lang="en-RU" dirty="0"/>
          </a:p>
        </p:txBody>
      </p:sp>
      <p:pic>
        <p:nvPicPr>
          <p:cNvPr id="6" name="Picture 5">
            <a:extLst>
              <a:ext uri="{FF2B5EF4-FFF2-40B4-BE49-F238E27FC236}">
                <a16:creationId xmlns:a16="http://schemas.microsoft.com/office/drawing/2014/main" id="{BBD46F3C-04AF-92C1-A40E-33C0EDF0218A}"/>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380596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BC987-B4BD-344E-41CF-8C34AD41D63D}"/>
              </a:ext>
            </a:extLst>
          </p:cNvPr>
          <p:cNvSpPr>
            <a:spLocks noGrp="1"/>
          </p:cNvSpPr>
          <p:nvPr>
            <p:ph type="title"/>
          </p:nvPr>
        </p:nvSpPr>
        <p:spPr/>
        <p:txBody>
          <a:bodyPr/>
          <a:lstStyle/>
          <a:p>
            <a:r>
              <a:rPr lang="ru-RU" dirty="0">
                <a:solidFill>
                  <a:schemeClr val="tx2">
                    <a:lumMod val="75000"/>
                    <a:lumOff val="25000"/>
                  </a:schemeClr>
                </a:solidFill>
              </a:rPr>
              <a:t>Общая архитектура системы</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04CB5023-428D-750D-B25B-7D8F21620848}"/>
              </a:ext>
            </a:extLst>
          </p:cNvPr>
          <p:cNvSpPr>
            <a:spLocks noGrp="1"/>
          </p:cNvSpPr>
          <p:nvPr>
            <p:ph type="sldNum" sz="quarter" idx="12"/>
          </p:nvPr>
        </p:nvSpPr>
        <p:spPr/>
        <p:txBody>
          <a:bodyPr/>
          <a:lstStyle/>
          <a:p>
            <a:fld id="{A825137D-5D54-8448-BF1E-32A34E891867}" type="slidenum">
              <a:rPr lang="en-RU" smtClean="0"/>
              <a:t>8</a:t>
            </a:fld>
            <a:endParaRPr lang="en-RU"/>
          </a:p>
        </p:txBody>
      </p:sp>
      <p:pic>
        <p:nvPicPr>
          <p:cNvPr id="5" name="Picture 4">
            <a:extLst>
              <a:ext uri="{FF2B5EF4-FFF2-40B4-BE49-F238E27FC236}">
                <a16:creationId xmlns:a16="http://schemas.microsoft.com/office/drawing/2014/main" id="{2542D438-BCD2-D7EC-2CF1-2ECE0A079F38}"/>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1F3C53D0-397A-E917-0C35-41481671C1E4}"/>
              </a:ext>
            </a:extLst>
          </p:cNvPr>
          <p:cNvPicPr>
            <a:picLocks noChangeAspect="1"/>
          </p:cNvPicPr>
          <p:nvPr/>
        </p:nvPicPr>
        <p:blipFill>
          <a:blip r:embed="rId3"/>
          <a:stretch>
            <a:fillRect/>
          </a:stretch>
        </p:blipFill>
        <p:spPr>
          <a:xfrm>
            <a:off x="2857499" y="1564466"/>
            <a:ext cx="6477000" cy="4599768"/>
          </a:xfrm>
          <a:prstGeom prst="rect">
            <a:avLst/>
          </a:prstGeom>
        </p:spPr>
      </p:pic>
      <p:sp>
        <p:nvSpPr>
          <p:cNvPr id="3" name="Left Brace 2">
            <a:extLst>
              <a:ext uri="{FF2B5EF4-FFF2-40B4-BE49-F238E27FC236}">
                <a16:creationId xmlns:a16="http://schemas.microsoft.com/office/drawing/2014/main" id="{B5C9E6F8-715A-C202-A6DE-D605F1369E3C}"/>
              </a:ext>
            </a:extLst>
          </p:cNvPr>
          <p:cNvSpPr/>
          <p:nvPr/>
        </p:nvSpPr>
        <p:spPr>
          <a:xfrm>
            <a:off x="2209801" y="2184400"/>
            <a:ext cx="749300" cy="3109134"/>
          </a:xfrm>
          <a:prstGeom prst="leftBrace">
            <a:avLst>
              <a:gd name="adj1" fmla="val 25282"/>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RU"/>
          </a:p>
        </p:txBody>
      </p:sp>
      <p:sp>
        <p:nvSpPr>
          <p:cNvPr id="7" name="TextBox 6">
            <a:extLst>
              <a:ext uri="{FF2B5EF4-FFF2-40B4-BE49-F238E27FC236}">
                <a16:creationId xmlns:a16="http://schemas.microsoft.com/office/drawing/2014/main" id="{15D002A9-C827-526A-BBC5-D4FD9CFA2727}"/>
              </a:ext>
            </a:extLst>
          </p:cNvPr>
          <p:cNvSpPr txBox="1"/>
          <p:nvPr/>
        </p:nvSpPr>
        <p:spPr>
          <a:xfrm>
            <a:off x="838198" y="3554301"/>
            <a:ext cx="1422400" cy="369332"/>
          </a:xfrm>
          <a:prstGeom prst="rect">
            <a:avLst/>
          </a:prstGeom>
          <a:noFill/>
        </p:spPr>
        <p:txBody>
          <a:bodyPr wrap="square" rtlCol="0">
            <a:spAutoFit/>
          </a:bodyPr>
          <a:lstStyle/>
          <a:p>
            <a:r>
              <a:rPr lang="en-US" dirty="0"/>
              <a:t>Notebook-1</a:t>
            </a:r>
            <a:endParaRPr lang="en-RU" dirty="0"/>
          </a:p>
        </p:txBody>
      </p:sp>
      <p:cxnSp>
        <p:nvCxnSpPr>
          <p:cNvPr id="9" name="Straight Arrow Connector 8">
            <a:extLst>
              <a:ext uri="{FF2B5EF4-FFF2-40B4-BE49-F238E27FC236}">
                <a16:creationId xmlns:a16="http://schemas.microsoft.com/office/drawing/2014/main" id="{F152AB05-22FB-39B1-1781-D147F5F32784}"/>
              </a:ext>
            </a:extLst>
          </p:cNvPr>
          <p:cNvCxnSpPr>
            <a:cxnSpLocks/>
          </p:cNvCxnSpPr>
          <p:nvPr/>
        </p:nvCxnSpPr>
        <p:spPr>
          <a:xfrm flipH="1">
            <a:off x="6680200" y="2438400"/>
            <a:ext cx="406400" cy="6905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0204A7E-8E79-E076-862C-676E46A93B11}"/>
              </a:ext>
            </a:extLst>
          </p:cNvPr>
          <p:cNvSpPr txBox="1"/>
          <p:nvPr/>
        </p:nvSpPr>
        <p:spPr>
          <a:xfrm>
            <a:off x="7086600" y="2057400"/>
            <a:ext cx="1368131" cy="369332"/>
          </a:xfrm>
          <a:prstGeom prst="rect">
            <a:avLst/>
          </a:prstGeom>
          <a:noFill/>
        </p:spPr>
        <p:txBody>
          <a:bodyPr wrap="none" rtlCol="0">
            <a:spAutoFit/>
          </a:bodyPr>
          <a:lstStyle/>
          <a:p>
            <a:r>
              <a:rPr lang="en-RU" dirty="0"/>
              <a:t>Notebook-2</a:t>
            </a:r>
          </a:p>
        </p:txBody>
      </p:sp>
      <p:cxnSp>
        <p:nvCxnSpPr>
          <p:cNvPr id="14" name="Straight Arrow Connector 13">
            <a:extLst>
              <a:ext uri="{FF2B5EF4-FFF2-40B4-BE49-F238E27FC236}">
                <a16:creationId xmlns:a16="http://schemas.microsoft.com/office/drawing/2014/main" id="{6F0EE59E-C4D8-7DBC-E9B2-2EA4A4D0A285}"/>
              </a:ext>
            </a:extLst>
          </p:cNvPr>
          <p:cNvCxnSpPr>
            <a:cxnSpLocks/>
          </p:cNvCxnSpPr>
          <p:nvPr/>
        </p:nvCxnSpPr>
        <p:spPr>
          <a:xfrm flipH="1" flipV="1">
            <a:off x="6680200" y="4254500"/>
            <a:ext cx="927100" cy="889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68B9B03-538E-9D2B-F61B-EBFFC7C7166D}"/>
              </a:ext>
            </a:extLst>
          </p:cNvPr>
          <p:cNvSpPr txBox="1"/>
          <p:nvPr/>
        </p:nvSpPr>
        <p:spPr>
          <a:xfrm>
            <a:off x="7607300" y="5051717"/>
            <a:ext cx="1368131" cy="369332"/>
          </a:xfrm>
          <a:prstGeom prst="rect">
            <a:avLst/>
          </a:prstGeom>
          <a:noFill/>
        </p:spPr>
        <p:txBody>
          <a:bodyPr wrap="none" rtlCol="0">
            <a:spAutoFit/>
          </a:bodyPr>
          <a:lstStyle/>
          <a:p>
            <a:r>
              <a:rPr lang="en-RU" dirty="0"/>
              <a:t>Notebook-3</a:t>
            </a:r>
          </a:p>
        </p:txBody>
      </p:sp>
      <p:sp>
        <p:nvSpPr>
          <p:cNvPr id="20" name="TextBox 19">
            <a:extLst>
              <a:ext uri="{FF2B5EF4-FFF2-40B4-BE49-F238E27FC236}">
                <a16:creationId xmlns:a16="http://schemas.microsoft.com/office/drawing/2014/main" id="{2B97C88B-4AF0-35E1-9959-04F50D11FE6C}"/>
              </a:ext>
            </a:extLst>
          </p:cNvPr>
          <p:cNvSpPr txBox="1"/>
          <p:nvPr/>
        </p:nvSpPr>
        <p:spPr>
          <a:xfrm>
            <a:off x="2070100" y="5811376"/>
            <a:ext cx="1368131" cy="369332"/>
          </a:xfrm>
          <a:prstGeom prst="rect">
            <a:avLst/>
          </a:prstGeom>
          <a:noFill/>
        </p:spPr>
        <p:txBody>
          <a:bodyPr wrap="none" rtlCol="0">
            <a:spAutoFit/>
          </a:bodyPr>
          <a:lstStyle/>
          <a:p>
            <a:r>
              <a:rPr lang="en-RU" dirty="0"/>
              <a:t>Notebook-4</a:t>
            </a:r>
          </a:p>
        </p:txBody>
      </p:sp>
    </p:spTree>
    <p:extLst>
      <p:ext uri="{BB962C8B-B14F-4D97-AF65-F5344CB8AC3E}">
        <p14:creationId xmlns:p14="http://schemas.microsoft.com/office/powerpoint/2010/main" val="4229352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0E869-D0E9-C687-1828-06CC7F0706D4}"/>
              </a:ext>
            </a:extLst>
          </p:cNvPr>
          <p:cNvSpPr>
            <a:spLocks noGrp="1"/>
          </p:cNvSpPr>
          <p:nvPr>
            <p:ph type="title"/>
          </p:nvPr>
        </p:nvSpPr>
        <p:spPr/>
        <p:txBody>
          <a:bodyPr/>
          <a:lstStyle/>
          <a:p>
            <a:r>
              <a:rPr lang="en-US" dirty="0">
                <a:solidFill>
                  <a:schemeClr val="tx2">
                    <a:lumMod val="75000"/>
                    <a:lumOff val="25000"/>
                  </a:schemeClr>
                </a:solidFill>
              </a:rPr>
              <a:t>YOLOv8</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B27D7136-F400-A8F9-854A-9B6E6B20F95A}"/>
              </a:ext>
            </a:extLst>
          </p:cNvPr>
          <p:cNvSpPr>
            <a:spLocks noGrp="1"/>
          </p:cNvSpPr>
          <p:nvPr>
            <p:ph type="sldNum" sz="quarter" idx="12"/>
          </p:nvPr>
        </p:nvSpPr>
        <p:spPr/>
        <p:txBody>
          <a:bodyPr/>
          <a:lstStyle/>
          <a:p>
            <a:fld id="{A825137D-5D54-8448-BF1E-32A34E891867}" type="slidenum">
              <a:rPr lang="en-RU" smtClean="0"/>
              <a:t>9</a:t>
            </a:fld>
            <a:endParaRPr lang="en-RU"/>
          </a:p>
        </p:txBody>
      </p:sp>
      <p:pic>
        <p:nvPicPr>
          <p:cNvPr id="5" name="Picture 4">
            <a:extLst>
              <a:ext uri="{FF2B5EF4-FFF2-40B4-BE49-F238E27FC236}">
                <a16:creationId xmlns:a16="http://schemas.microsoft.com/office/drawing/2014/main" id="{F96C9A01-426B-1F1E-B04D-8076DCEFFDAB}"/>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4FCFB2D3-75F2-D41B-A771-E2D6A852FB6E}"/>
              </a:ext>
            </a:extLst>
          </p:cNvPr>
          <p:cNvPicPr>
            <a:picLocks noChangeAspect="1"/>
          </p:cNvPicPr>
          <p:nvPr/>
        </p:nvPicPr>
        <p:blipFill>
          <a:blip r:embed="rId3"/>
          <a:stretch>
            <a:fillRect/>
          </a:stretch>
        </p:blipFill>
        <p:spPr>
          <a:xfrm>
            <a:off x="541813" y="1868487"/>
            <a:ext cx="11108373" cy="2247900"/>
          </a:xfrm>
          <a:prstGeom prst="rect">
            <a:avLst/>
          </a:prstGeom>
        </p:spPr>
      </p:pic>
      <p:sp>
        <p:nvSpPr>
          <p:cNvPr id="9" name="Content Placeholder 2">
            <a:extLst>
              <a:ext uri="{FF2B5EF4-FFF2-40B4-BE49-F238E27FC236}">
                <a16:creationId xmlns:a16="http://schemas.microsoft.com/office/drawing/2014/main" id="{6699F53A-458D-5DB0-61C2-B4923A93AA27}"/>
              </a:ext>
            </a:extLst>
          </p:cNvPr>
          <p:cNvSpPr>
            <a:spLocks noGrp="1"/>
          </p:cNvSpPr>
          <p:nvPr>
            <p:ph idx="1"/>
          </p:nvPr>
        </p:nvSpPr>
        <p:spPr>
          <a:xfrm>
            <a:off x="838200" y="4749381"/>
            <a:ext cx="10515600" cy="902119"/>
          </a:xfrm>
        </p:spPr>
        <p:txBody>
          <a:bodyPr/>
          <a:lstStyle/>
          <a:p>
            <a:pPr marL="0" indent="0">
              <a:buNone/>
            </a:pPr>
            <a:r>
              <a:rPr lang="ru-RU" b="1" dirty="0"/>
              <a:t>Обоснование выбора</a:t>
            </a:r>
            <a:r>
              <a:rPr lang="en-US" b="1" dirty="0"/>
              <a:t> YOLO</a:t>
            </a:r>
            <a:r>
              <a:rPr lang="ru-RU" b="1" dirty="0"/>
              <a:t>:</a:t>
            </a:r>
            <a:r>
              <a:rPr lang="ru-RU" dirty="0"/>
              <a:t> </a:t>
            </a:r>
            <a:r>
              <a:rPr lang="en-GB" dirty="0"/>
              <a:t>YOLOv8n </a:t>
            </a:r>
            <a:r>
              <a:rPr lang="ru-RU" dirty="0"/>
              <a:t>оптимален для видеопотока в реальном времени</a:t>
            </a:r>
            <a:endParaRPr lang="en-RU" dirty="0"/>
          </a:p>
        </p:txBody>
      </p:sp>
    </p:spTree>
    <p:extLst>
      <p:ext uri="{BB962C8B-B14F-4D97-AF65-F5344CB8AC3E}">
        <p14:creationId xmlns:p14="http://schemas.microsoft.com/office/powerpoint/2010/main" val="3879302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27D8-EBEE-7CD8-0CB7-AD5B49722C19}"/>
              </a:ext>
            </a:extLst>
          </p:cNvPr>
          <p:cNvSpPr>
            <a:spLocks noGrp="1"/>
          </p:cNvSpPr>
          <p:nvPr>
            <p:ph type="title"/>
          </p:nvPr>
        </p:nvSpPr>
        <p:spPr/>
        <p:txBody>
          <a:bodyPr/>
          <a:lstStyle/>
          <a:p>
            <a:r>
              <a:rPr lang="en-US" dirty="0">
                <a:solidFill>
                  <a:schemeClr val="tx2">
                    <a:lumMod val="75000"/>
                    <a:lumOff val="25000"/>
                  </a:schemeClr>
                </a:solidFill>
              </a:rPr>
              <a:t>ResNet18</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D23DB930-87F2-66F7-73A8-53EB42662624}"/>
              </a:ext>
            </a:extLst>
          </p:cNvPr>
          <p:cNvSpPr>
            <a:spLocks noGrp="1"/>
          </p:cNvSpPr>
          <p:nvPr>
            <p:ph idx="1"/>
          </p:nvPr>
        </p:nvSpPr>
        <p:spPr>
          <a:xfrm>
            <a:off x="838200" y="2044700"/>
            <a:ext cx="5054600" cy="3997326"/>
          </a:xfrm>
        </p:spPr>
        <p:txBody>
          <a:bodyPr/>
          <a:lstStyle/>
          <a:p>
            <a:pPr marL="0" indent="0">
              <a:buNone/>
            </a:pPr>
            <a:r>
              <a:rPr lang="ru-RU" b="1" dirty="0"/>
              <a:t>Обоснование выбора </a:t>
            </a:r>
            <a:r>
              <a:rPr lang="en-GB" b="1" dirty="0"/>
              <a:t>ResNet18: </a:t>
            </a:r>
            <a:r>
              <a:rPr lang="ru-RU" dirty="0"/>
              <a:t>оптимальное соотношение точности и скорости, 11.7</a:t>
            </a:r>
            <a:r>
              <a:rPr lang="en-GB" dirty="0"/>
              <a:t>M </a:t>
            </a:r>
            <a:r>
              <a:rPr lang="ru-RU" dirty="0"/>
              <a:t>параметров позволяют </a:t>
            </a:r>
            <a:r>
              <a:rPr lang="ru-RU" dirty="0" err="1"/>
              <a:t>дообучить</a:t>
            </a:r>
            <a:r>
              <a:rPr lang="ru-RU" dirty="0"/>
              <a:t> модель на ограниченных данных без переобучения.</a:t>
            </a:r>
            <a:endParaRPr lang="en-RU" dirty="0"/>
          </a:p>
        </p:txBody>
      </p:sp>
      <p:sp>
        <p:nvSpPr>
          <p:cNvPr id="4" name="Slide Number Placeholder 3">
            <a:extLst>
              <a:ext uri="{FF2B5EF4-FFF2-40B4-BE49-F238E27FC236}">
                <a16:creationId xmlns:a16="http://schemas.microsoft.com/office/drawing/2014/main" id="{B2400E3D-C524-1223-E30D-5DD4FDD282DB}"/>
              </a:ext>
            </a:extLst>
          </p:cNvPr>
          <p:cNvSpPr>
            <a:spLocks noGrp="1"/>
          </p:cNvSpPr>
          <p:nvPr>
            <p:ph type="sldNum" sz="quarter" idx="12"/>
          </p:nvPr>
        </p:nvSpPr>
        <p:spPr/>
        <p:txBody>
          <a:bodyPr/>
          <a:lstStyle/>
          <a:p>
            <a:fld id="{A825137D-5D54-8448-BF1E-32A34E891867}" type="slidenum">
              <a:rPr lang="en-RU" smtClean="0"/>
              <a:t>10</a:t>
            </a:fld>
            <a:endParaRPr lang="en-RU"/>
          </a:p>
        </p:txBody>
      </p:sp>
      <p:pic>
        <p:nvPicPr>
          <p:cNvPr id="5" name="Picture 4">
            <a:extLst>
              <a:ext uri="{FF2B5EF4-FFF2-40B4-BE49-F238E27FC236}">
                <a16:creationId xmlns:a16="http://schemas.microsoft.com/office/drawing/2014/main" id="{A07DE82E-8F0F-9580-57DF-1B28E81F29A4}"/>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B813AA88-3E51-4B8B-AFC1-1899DE05CA30}"/>
              </a:ext>
            </a:extLst>
          </p:cNvPr>
          <p:cNvPicPr>
            <a:picLocks noChangeAspect="1"/>
          </p:cNvPicPr>
          <p:nvPr/>
        </p:nvPicPr>
        <p:blipFill>
          <a:blip r:embed="rId3"/>
          <a:stretch>
            <a:fillRect/>
          </a:stretch>
        </p:blipFill>
        <p:spPr>
          <a:xfrm>
            <a:off x="6759357" y="451741"/>
            <a:ext cx="4947004" cy="5745440"/>
          </a:xfrm>
          <a:prstGeom prst="rect">
            <a:avLst/>
          </a:prstGeom>
        </p:spPr>
      </p:pic>
    </p:spTree>
    <p:extLst>
      <p:ext uri="{BB962C8B-B14F-4D97-AF65-F5344CB8AC3E}">
        <p14:creationId xmlns:p14="http://schemas.microsoft.com/office/powerpoint/2010/main" val="1416351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4450-F867-0FFE-FD2C-1F3442DEFD62}"/>
              </a:ext>
            </a:extLst>
          </p:cNvPr>
          <p:cNvSpPr>
            <a:spLocks noGrp="1"/>
          </p:cNvSpPr>
          <p:nvPr>
            <p:ph type="title"/>
          </p:nvPr>
        </p:nvSpPr>
        <p:spPr/>
        <p:txBody>
          <a:bodyPr/>
          <a:lstStyle/>
          <a:p>
            <a:r>
              <a:rPr lang="en-US" dirty="0" err="1">
                <a:solidFill>
                  <a:schemeClr val="tx2">
                    <a:lumMod val="75000"/>
                    <a:lumOff val="25000"/>
                  </a:schemeClr>
                </a:solidFill>
              </a:rPr>
              <a:t>EasyOCR</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5E7B6C8A-6DF7-9B4C-2B4C-01D5A426ACAF}"/>
              </a:ext>
            </a:extLst>
          </p:cNvPr>
          <p:cNvSpPr>
            <a:spLocks noGrp="1"/>
          </p:cNvSpPr>
          <p:nvPr>
            <p:ph idx="1"/>
          </p:nvPr>
        </p:nvSpPr>
        <p:spPr>
          <a:xfrm>
            <a:off x="838200" y="3975099"/>
            <a:ext cx="10515600" cy="2087563"/>
          </a:xfrm>
        </p:spPr>
        <p:txBody>
          <a:bodyPr/>
          <a:lstStyle/>
          <a:p>
            <a:pPr marL="0" indent="0">
              <a:buNone/>
            </a:pPr>
            <a:r>
              <a:rPr lang="ru-RU" b="1" dirty="0"/>
              <a:t>Обоснование выбора</a:t>
            </a:r>
            <a:r>
              <a:rPr lang="en-US" b="1" dirty="0"/>
              <a:t> </a:t>
            </a:r>
            <a:r>
              <a:rPr lang="en-US" b="1" dirty="0" err="1"/>
              <a:t>EasyOCR</a:t>
            </a:r>
            <a:r>
              <a:rPr lang="ru-RU" b="1" dirty="0"/>
              <a:t>: </a:t>
            </a:r>
            <a:r>
              <a:rPr lang="en-GB" dirty="0"/>
              <a:t>YOLOv8n (fine-tuned) + </a:t>
            </a:r>
            <a:r>
              <a:rPr lang="en-GB" dirty="0" err="1"/>
              <a:t>EasyOCR</a:t>
            </a:r>
            <a:r>
              <a:rPr lang="en-GB" dirty="0"/>
              <a:t> </a:t>
            </a:r>
            <a:r>
              <a:rPr lang="ru-RU" dirty="0"/>
              <a:t>обеспечивает готовую поддержку кириллицы</a:t>
            </a:r>
            <a:r>
              <a:rPr lang="en-US" dirty="0"/>
              <a:t> </a:t>
            </a:r>
            <a:r>
              <a:rPr lang="ru-RU" dirty="0"/>
              <a:t>без обучения собственной </a:t>
            </a:r>
            <a:r>
              <a:rPr lang="en-GB" dirty="0"/>
              <a:t>OCR-</a:t>
            </a:r>
            <a:r>
              <a:rPr lang="ru-RU" dirty="0"/>
              <a:t>модели.</a:t>
            </a:r>
            <a:endParaRPr lang="en-RU" dirty="0"/>
          </a:p>
        </p:txBody>
      </p:sp>
      <p:sp>
        <p:nvSpPr>
          <p:cNvPr id="4" name="Slide Number Placeholder 3">
            <a:extLst>
              <a:ext uri="{FF2B5EF4-FFF2-40B4-BE49-F238E27FC236}">
                <a16:creationId xmlns:a16="http://schemas.microsoft.com/office/drawing/2014/main" id="{DCBEBC24-4C36-2797-7826-7D550C7DBAF5}"/>
              </a:ext>
            </a:extLst>
          </p:cNvPr>
          <p:cNvSpPr>
            <a:spLocks noGrp="1"/>
          </p:cNvSpPr>
          <p:nvPr>
            <p:ph type="sldNum" sz="quarter" idx="12"/>
          </p:nvPr>
        </p:nvSpPr>
        <p:spPr/>
        <p:txBody>
          <a:bodyPr/>
          <a:lstStyle/>
          <a:p>
            <a:fld id="{A825137D-5D54-8448-BF1E-32A34E891867}" type="slidenum">
              <a:rPr lang="en-RU" smtClean="0"/>
              <a:t>11</a:t>
            </a:fld>
            <a:endParaRPr lang="en-RU"/>
          </a:p>
        </p:txBody>
      </p:sp>
      <p:pic>
        <p:nvPicPr>
          <p:cNvPr id="5" name="Picture 4">
            <a:extLst>
              <a:ext uri="{FF2B5EF4-FFF2-40B4-BE49-F238E27FC236}">
                <a16:creationId xmlns:a16="http://schemas.microsoft.com/office/drawing/2014/main" id="{760CDFD0-CF08-D50E-9886-841439D1247B}"/>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CA8F8371-3D9C-8739-1488-51324115A793}"/>
              </a:ext>
            </a:extLst>
          </p:cNvPr>
          <p:cNvPicPr>
            <a:picLocks noChangeAspect="1"/>
          </p:cNvPicPr>
          <p:nvPr/>
        </p:nvPicPr>
        <p:blipFill>
          <a:blip r:embed="rId3"/>
          <a:stretch>
            <a:fillRect/>
          </a:stretch>
        </p:blipFill>
        <p:spPr>
          <a:xfrm>
            <a:off x="800100" y="1854994"/>
            <a:ext cx="10691724" cy="1574006"/>
          </a:xfrm>
          <a:prstGeom prst="rect">
            <a:avLst/>
          </a:prstGeom>
        </p:spPr>
      </p:pic>
    </p:spTree>
    <p:extLst>
      <p:ext uri="{BB962C8B-B14F-4D97-AF65-F5344CB8AC3E}">
        <p14:creationId xmlns:p14="http://schemas.microsoft.com/office/powerpoint/2010/main" val="1260000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85AF7-E6B8-90EA-F2B1-141FB46C185A}"/>
              </a:ext>
            </a:extLst>
          </p:cNvPr>
          <p:cNvSpPr>
            <a:spLocks noGrp="1"/>
          </p:cNvSpPr>
          <p:nvPr>
            <p:ph type="title"/>
          </p:nvPr>
        </p:nvSpPr>
        <p:spPr>
          <a:xfrm>
            <a:off x="838200" y="2790825"/>
            <a:ext cx="10515600" cy="1325563"/>
          </a:xfrm>
        </p:spPr>
        <p:txBody>
          <a:bodyPr/>
          <a:lstStyle/>
          <a:p>
            <a:pPr algn="ctr"/>
            <a:r>
              <a:rPr lang="ru-RU" dirty="0">
                <a:solidFill>
                  <a:schemeClr val="tx2">
                    <a:lumMod val="75000"/>
                    <a:lumOff val="25000"/>
                  </a:schemeClr>
                </a:solidFill>
              </a:rPr>
              <a:t>Используемые метрики</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E62F362D-70C4-1772-9A9D-074CF2F26E4C}"/>
              </a:ext>
            </a:extLst>
          </p:cNvPr>
          <p:cNvSpPr>
            <a:spLocks noGrp="1"/>
          </p:cNvSpPr>
          <p:nvPr>
            <p:ph type="sldNum" sz="quarter" idx="12"/>
          </p:nvPr>
        </p:nvSpPr>
        <p:spPr/>
        <p:txBody>
          <a:bodyPr/>
          <a:lstStyle/>
          <a:p>
            <a:fld id="{A825137D-5D54-8448-BF1E-32A34E891867}" type="slidenum">
              <a:rPr lang="en-RU" smtClean="0"/>
              <a:t>12</a:t>
            </a:fld>
            <a:endParaRPr lang="en-RU"/>
          </a:p>
        </p:txBody>
      </p:sp>
      <p:pic>
        <p:nvPicPr>
          <p:cNvPr id="5" name="Picture 4">
            <a:extLst>
              <a:ext uri="{FF2B5EF4-FFF2-40B4-BE49-F238E27FC236}">
                <a16:creationId xmlns:a16="http://schemas.microsoft.com/office/drawing/2014/main" id="{8034DB34-9BCE-0EA1-37A6-B968A88B99CB}"/>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4231587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E6AE1-0DFF-C4A8-7E32-0570C31B9521}"/>
              </a:ext>
            </a:extLst>
          </p:cNvPr>
          <p:cNvSpPr>
            <a:spLocks noGrp="1"/>
          </p:cNvSpPr>
          <p:nvPr>
            <p:ph type="title"/>
          </p:nvPr>
        </p:nvSpPr>
        <p:spPr/>
        <p:txBody>
          <a:bodyPr/>
          <a:lstStyle/>
          <a:p>
            <a:r>
              <a:rPr lang="en-US" dirty="0">
                <a:solidFill>
                  <a:schemeClr val="tx2">
                    <a:lumMod val="75000"/>
                    <a:lumOff val="25000"/>
                  </a:schemeClr>
                </a:solidFill>
              </a:rPr>
              <a:t>Intersection over Union (</a:t>
            </a:r>
            <a:r>
              <a:rPr lang="en-US" dirty="0" err="1">
                <a:solidFill>
                  <a:schemeClr val="tx2">
                    <a:lumMod val="75000"/>
                    <a:lumOff val="25000"/>
                  </a:schemeClr>
                </a:solidFill>
              </a:rPr>
              <a:t>IoU</a:t>
            </a:r>
            <a:r>
              <a:rPr lang="en-US" dirty="0">
                <a:solidFill>
                  <a:schemeClr val="tx2">
                    <a:lumMod val="75000"/>
                    <a:lumOff val="25000"/>
                  </a:schemeClr>
                </a:solidFill>
              </a:rPr>
              <a:t>)</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3D94DB93-8A81-AC27-3B1A-6896F44D5BF3}"/>
              </a:ext>
            </a:extLst>
          </p:cNvPr>
          <p:cNvSpPr>
            <a:spLocks noGrp="1"/>
          </p:cNvSpPr>
          <p:nvPr>
            <p:ph type="sldNum" sz="quarter" idx="12"/>
          </p:nvPr>
        </p:nvSpPr>
        <p:spPr/>
        <p:txBody>
          <a:bodyPr/>
          <a:lstStyle/>
          <a:p>
            <a:fld id="{A825137D-5D54-8448-BF1E-32A34E891867}" type="slidenum">
              <a:rPr lang="en-RU" smtClean="0"/>
              <a:t>13</a:t>
            </a:fld>
            <a:endParaRPr lang="en-RU"/>
          </a:p>
        </p:txBody>
      </p:sp>
      <p:pic>
        <p:nvPicPr>
          <p:cNvPr id="5" name="Picture 4">
            <a:extLst>
              <a:ext uri="{FF2B5EF4-FFF2-40B4-BE49-F238E27FC236}">
                <a16:creationId xmlns:a16="http://schemas.microsoft.com/office/drawing/2014/main" id="{A9A47352-1D7E-FD66-3D2E-8A1DFD8DE54B}"/>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1026" name="Picture 2" descr="Figure 1: An example of detecting a stop sign in an image. The predicted bounding box is drawn in red while the ground-truth bounding box is drawn in green. Our goal is to compute the Intersection of Union between these bounding box.">
            <a:extLst>
              <a:ext uri="{FF2B5EF4-FFF2-40B4-BE49-F238E27FC236}">
                <a16:creationId xmlns:a16="http://schemas.microsoft.com/office/drawing/2014/main" id="{06E69A43-A119-D2E3-C7B9-ED28AAEA3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1741488"/>
            <a:ext cx="5331882" cy="39989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e 2: Computing the Intersection of Union is as simple as dividing the area of overlap between the bounding boxes by the area of union (thank you to the excellent Pittsburg HW4 assignment for the inspiration for this figure).">
            <a:extLst>
              <a:ext uri="{FF2B5EF4-FFF2-40B4-BE49-F238E27FC236}">
                <a16:creationId xmlns:a16="http://schemas.microsoft.com/office/drawing/2014/main" id="{74E0686E-B5E1-3B5E-D9E9-9A29463AA8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1" y="1511300"/>
            <a:ext cx="3305256" cy="2578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gure 3: An example of computing Intersection over Unions for various bounding boxes.">
            <a:extLst>
              <a:ext uri="{FF2B5EF4-FFF2-40B4-BE49-F238E27FC236}">
                <a16:creationId xmlns:a16="http://schemas.microsoft.com/office/drawing/2014/main" id="{1942C4B4-273B-8DAD-2EE4-DBB808737A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258" y="4216523"/>
            <a:ext cx="4791914" cy="198065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C92427B-DB34-5991-7CDB-747182918532}"/>
              </a:ext>
            </a:extLst>
          </p:cNvPr>
          <p:cNvSpPr txBox="1"/>
          <p:nvPr/>
        </p:nvSpPr>
        <p:spPr>
          <a:xfrm>
            <a:off x="698500" y="6389318"/>
            <a:ext cx="4066883" cy="369332"/>
          </a:xfrm>
          <a:prstGeom prst="rect">
            <a:avLst/>
          </a:prstGeom>
          <a:noFill/>
        </p:spPr>
        <p:txBody>
          <a:bodyPr wrap="none" rtlCol="0">
            <a:spAutoFit/>
          </a:bodyPr>
          <a:lstStyle/>
          <a:p>
            <a:r>
              <a:rPr lang="ru-RU" dirty="0"/>
              <a:t>Источник: </a:t>
            </a:r>
            <a:r>
              <a:rPr lang="en-GB" dirty="0"/>
              <a:t>https://</a:t>
            </a:r>
            <a:r>
              <a:rPr lang="en-GB" dirty="0" err="1"/>
              <a:t>pyimagesearch.com</a:t>
            </a:r>
            <a:endParaRPr lang="en-RU" dirty="0"/>
          </a:p>
        </p:txBody>
      </p:sp>
    </p:spTree>
    <p:extLst>
      <p:ext uri="{BB962C8B-B14F-4D97-AF65-F5344CB8AC3E}">
        <p14:creationId xmlns:p14="http://schemas.microsoft.com/office/powerpoint/2010/main" val="1698813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3EB6E-ABC8-80A9-485A-3D96A0B45099}"/>
              </a:ext>
            </a:extLst>
          </p:cNvPr>
          <p:cNvSpPr>
            <a:spLocks noGrp="1"/>
          </p:cNvSpPr>
          <p:nvPr>
            <p:ph type="title"/>
          </p:nvPr>
        </p:nvSpPr>
        <p:spPr/>
        <p:txBody>
          <a:bodyPr/>
          <a:lstStyle/>
          <a:p>
            <a:r>
              <a:rPr lang="en-US" dirty="0">
                <a:solidFill>
                  <a:schemeClr val="tx2">
                    <a:lumMod val="75000"/>
                    <a:lumOff val="25000"/>
                  </a:schemeClr>
                </a:solidFill>
              </a:rPr>
              <a:t>Mean Average </a:t>
            </a:r>
            <a:r>
              <a:rPr lang="en-US" dirty="0" err="1">
                <a:solidFill>
                  <a:schemeClr val="tx2">
                    <a:lumMod val="75000"/>
                    <a:lumOff val="25000"/>
                  </a:schemeClr>
                </a:solidFill>
              </a:rPr>
              <a:t>Presicion</a:t>
            </a:r>
            <a:r>
              <a:rPr lang="en-US" dirty="0">
                <a:solidFill>
                  <a:schemeClr val="tx2">
                    <a:lumMod val="75000"/>
                    <a:lumOff val="25000"/>
                  </a:schemeClr>
                </a:solidFill>
              </a:rPr>
              <a:t> (</a:t>
            </a:r>
            <a:r>
              <a:rPr lang="en-US" dirty="0" err="1">
                <a:solidFill>
                  <a:schemeClr val="tx2">
                    <a:lumMod val="75000"/>
                    <a:lumOff val="25000"/>
                  </a:schemeClr>
                </a:solidFill>
              </a:rPr>
              <a:t>mAP@t</a:t>
            </a:r>
            <a:r>
              <a:rPr lang="en-US" dirty="0">
                <a:solidFill>
                  <a:schemeClr val="tx2">
                    <a:lumMod val="75000"/>
                    <a:lumOff val="25000"/>
                  </a:schemeClr>
                </a:solidFill>
              </a:rPr>
              <a:t>)</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5B8BD3AA-638F-B644-BEDD-2817AC535F42}"/>
              </a:ext>
            </a:extLst>
          </p:cNvPr>
          <p:cNvSpPr>
            <a:spLocks noGrp="1"/>
          </p:cNvSpPr>
          <p:nvPr>
            <p:ph idx="1"/>
          </p:nvPr>
        </p:nvSpPr>
        <p:spPr>
          <a:xfrm>
            <a:off x="838200" y="1825625"/>
            <a:ext cx="4480142" cy="2695575"/>
          </a:xfrm>
        </p:spPr>
        <p:txBody>
          <a:bodyPr>
            <a:normAutofit/>
          </a:bodyPr>
          <a:lstStyle/>
          <a:p>
            <a:pPr marL="0" indent="0">
              <a:buNone/>
            </a:pPr>
            <a:r>
              <a:rPr lang="en-GB" dirty="0">
                <a:solidFill>
                  <a:srgbClr val="000000"/>
                </a:solidFill>
              </a:rPr>
              <a:t>AP – </a:t>
            </a:r>
            <a:r>
              <a:rPr lang="ru-RU" dirty="0">
                <a:solidFill>
                  <a:srgbClr val="000000"/>
                </a:solidFill>
              </a:rPr>
              <a:t>усреднение </a:t>
            </a:r>
            <a:r>
              <a:rPr lang="en-US" dirty="0">
                <a:solidFill>
                  <a:srgbClr val="000000"/>
                </a:solidFill>
              </a:rPr>
              <a:t>Precision </a:t>
            </a:r>
            <a:r>
              <a:rPr lang="ru-RU" dirty="0">
                <a:solidFill>
                  <a:srgbClr val="000000"/>
                </a:solidFill>
              </a:rPr>
              <a:t>по точкам, где </a:t>
            </a:r>
            <a:r>
              <a:rPr lang="en-US" dirty="0">
                <a:solidFill>
                  <a:srgbClr val="000000"/>
                </a:solidFill>
              </a:rPr>
              <a:t>Recall </a:t>
            </a:r>
            <a:r>
              <a:rPr lang="ru-RU" dirty="0">
                <a:solidFill>
                  <a:srgbClr val="000000"/>
                </a:solidFill>
              </a:rPr>
              <a:t>увеличивается</a:t>
            </a:r>
          </a:p>
          <a:p>
            <a:pPr marL="0" indent="0">
              <a:buNone/>
            </a:pPr>
            <a:r>
              <a:rPr lang="ru-RU" dirty="0"/>
              <a:t>Детекция объекта засчитывается при </a:t>
            </a:r>
            <a:r>
              <a:rPr lang="en-US" dirty="0" err="1"/>
              <a:t>IoU</a:t>
            </a:r>
            <a:r>
              <a:rPr lang="en-US" dirty="0"/>
              <a:t> &gt;= threshold</a:t>
            </a:r>
            <a:endParaRPr lang="ru-RU" dirty="0"/>
          </a:p>
        </p:txBody>
      </p:sp>
      <p:sp>
        <p:nvSpPr>
          <p:cNvPr id="4" name="Slide Number Placeholder 3">
            <a:extLst>
              <a:ext uri="{FF2B5EF4-FFF2-40B4-BE49-F238E27FC236}">
                <a16:creationId xmlns:a16="http://schemas.microsoft.com/office/drawing/2014/main" id="{AED01B8F-38E0-B3AF-09BF-DDEB2D906B16}"/>
              </a:ext>
            </a:extLst>
          </p:cNvPr>
          <p:cNvSpPr>
            <a:spLocks noGrp="1"/>
          </p:cNvSpPr>
          <p:nvPr>
            <p:ph type="sldNum" sz="quarter" idx="12"/>
          </p:nvPr>
        </p:nvSpPr>
        <p:spPr/>
        <p:txBody>
          <a:bodyPr/>
          <a:lstStyle/>
          <a:p>
            <a:fld id="{A825137D-5D54-8448-BF1E-32A34E891867}" type="slidenum">
              <a:rPr lang="en-RU" smtClean="0"/>
              <a:t>14</a:t>
            </a:fld>
            <a:endParaRPr lang="en-RU" dirty="0"/>
          </a:p>
        </p:txBody>
      </p:sp>
      <p:pic>
        <p:nvPicPr>
          <p:cNvPr id="5" name="Picture 4">
            <a:extLst>
              <a:ext uri="{FF2B5EF4-FFF2-40B4-BE49-F238E27FC236}">
                <a16:creationId xmlns:a16="http://schemas.microsoft.com/office/drawing/2014/main" id="{3A1F68E9-C255-0D86-9830-6452741C9405}"/>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528BFA14-324A-78EB-EC20-018251610411}"/>
              </a:ext>
            </a:extLst>
          </p:cNvPr>
          <p:cNvPicPr>
            <a:picLocks noChangeAspect="1"/>
          </p:cNvPicPr>
          <p:nvPr/>
        </p:nvPicPr>
        <p:blipFill>
          <a:blip r:embed="rId3"/>
          <a:stretch>
            <a:fillRect/>
          </a:stretch>
        </p:blipFill>
        <p:spPr>
          <a:xfrm>
            <a:off x="5758308" y="1874743"/>
            <a:ext cx="6192392" cy="4026897"/>
          </a:xfrm>
          <a:prstGeom prst="rect">
            <a:avLst/>
          </a:prstGeom>
        </p:spPr>
      </p:pic>
      <p:pic>
        <p:nvPicPr>
          <p:cNvPr id="9" name="Picture 8">
            <a:extLst>
              <a:ext uri="{FF2B5EF4-FFF2-40B4-BE49-F238E27FC236}">
                <a16:creationId xmlns:a16="http://schemas.microsoft.com/office/drawing/2014/main" id="{54795F61-2823-2A77-8F3F-65BD339282EF}"/>
              </a:ext>
            </a:extLst>
          </p:cNvPr>
          <p:cNvPicPr>
            <a:picLocks noChangeAspect="1"/>
          </p:cNvPicPr>
          <p:nvPr/>
        </p:nvPicPr>
        <p:blipFill>
          <a:blip r:embed="rId4"/>
          <a:stretch>
            <a:fillRect/>
          </a:stretch>
        </p:blipFill>
        <p:spPr>
          <a:xfrm>
            <a:off x="469900" y="4501078"/>
            <a:ext cx="5216742" cy="1240567"/>
          </a:xfrm>
          <a:prstGeom prst="rect">
            <a:avLst/>
          </a:prstGeom>
        </p:spPr>
      </p:pic>
      <p:sp>
        <p:nvSpPr>
          <p:cNvPr id="10" name="TextBox 9">
            <a:extLst>
              <a:ext uri="{FF2B5EF4-FFF2-40B4-BE49-F238E27FC236}">
                <a16:creationId xmlns:a16="http://schemas.microsoft.com/office/drawing/2014/main" id="{6F57954E-F33B-A6FE-7F9F-70422F844BAB}"/>
              </a:ext>
            </a:extLst>
          </p:cNvPr>
          <p:cNvSpPr txBox="1"/>
          <p:nvPr/>
        </p:nvSpPr>
        <p:spPr>
          <a:xfrm>
            <a:off x="698500" y="6389318"/>
            <a:ext cx="4066883" cy="369332"/>
          </a:xfrm>
          <a:prstGeom prst="rect">
            <a:avLst/>
          </a:prstGeom>
          <a:noFill/>
        </p:spPr>
        <p:txBody>
          <a:bodyPr wrap="none" rtlCol="0">
            <a:spAutoFit/>
          </a:bodyPr>
          <a:lstStyle/>
          <a:p>
            <a:r>
              <a:rPr lang="ru-RU" dirty="0"/>
              <a:t>Источник: </a:t>
            </a:r>
            <a:r>
              <a:rPr lang="en-GB" dirty="0"/>
              <a:t>https://</a:t>
            </a:r>
            <a:r>
              <a:rPr lang="en-GB" dirty="0" err="1"/>
              <a:t>pyimagesearch.com</a:t>
            </a:r>
            <a:endParaRPr lang="en-RU" dirty="0"/>
          </a:p>
        </p:txBody>
      </p:sp>
    </p:spTree>
    <p:extLst>
      <p:ext uri="{BB962C8B-B14F-4D97-AF65-F5344CB8AC3E}">
        <p14:creationId xmlns:p14="http://schemas.microsoft.com/office/powerpoint/2010/main" val="536464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A80FA-035A-A2FE-6E47-988C9FE99BE7}"/>
              </a:ext>
            </a:extLst>
          </p:cNvPr>
          <p:cNvSpPr>
            <a:spLocks noGrp="1"/>
          </p:cNvSpPr>
          <p:nvPr>
            <p:ph type="title"/>
          </p:nvPr>
        </p:nvSpPr>
        <p:spPr/>
        <p:txBody>
          <a:bodyPr/>
          <a:lstStyle/>
          <a:p>
            <a:r>
              <a:rPr lang="en-US" dirty="0">
                <a:solidFill>
                  <a:schemeClr val="tx2">
                    <a:lumMod val="75000"/>
                    <a:lumOff val="25000"/>
                  </a:schemeClr>
                </a:solidFill>
              </a:rPr>
              <a:t>Macro F1-score</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8E6EA226-6907-F23F-CE50-CD3BDF00CC92}"/>
              </a:ext>
            </a:extLst>
          </p:cNvPr>
          <p:cNvSpPr>
            <a:spLocks noGrp="1"/>
          </p:cNvSpPr>
          <p:nvPr>
            <p:ph idx="1"/>
          </p:nvPr>
        </p:nvSpPr>
        <p:spPr>
          <a:xfrm>
            <a:off x="838200" y="1825625"/>
            <a:ext cx="5257800" cy="4351338"/>
          </a:xfrm>
        </p:spPr>
        <p:txBody>
          <a:bodyPr>
            <a:normAutofit/>
          </a:bodyPr>
          <a:lstStyle/>
          <a:p>
            <a:pPr marL="0" indent="0">
              <a:buNone/>
            </a:pPr>
            <a:r>
              <a:rPr lang="ru-RU" dirty="0" err="1"/>
              <a:t>Макроусреднение</a:t>
            </a:r>
            <a:r>
              <a:rPr lang="ru-RU" dirty="0"/>
              <a:t> – считаем </a:t>
            </a:r>
            <a:r>
              <a:rPr lang="en-US" dirty="0"/>
              <a:t>Precision, Recall, F1 </a:t>
            </a:r>
            <a:r>
              <a:rPr lang="ru-RU" dirty="0"/>
              <a:t>для каждого класса, а затем усредняем</a:t>
            </a:r>
          </a:p>
          <a:p>
            <a:pPr marL="0" indent="0">
              <a:buNone/>
            </a:pPr>
            <a:endParaRPr lang="ru-RU" dirty="0"/>
          </a:p>
          <a:p>
            <a:pPr marL="0" indent="0">
              <a:buNone/>
            </a:pPr>
            <a:r>
              <a:rPr lang="ru-RU" dirty="0"/>
              <a:t>Использовалась в задаче классификации цвета ТС</a:t>
            </a:r>
          </a:p>
        </p:txBody>
      </p:sp>
      <p:sp>
        <p:nvSpPr>
          <p:cNvPr id="4" name="Slide Number Placeholder 3">
            <a:extLst>
              <a:ext uri="{FF2B5EF4-FFF2-40B4-BE49-F238E27FC236}">
                <a16:creationId xmlns:a16="http://schemas.microsoft.com/office/drawing/2014/main" id="{D9D8857C-FC9B-FB7D-502E-5951FA4D8497}"/>
              </a:ext>
            </a:extLst>
          </p:cNvPr>
          <p:cNvSpPr>
            <a:spLocks noGrp="1"/>
          </p:cNvSpPr>
          <p:nvPr>
            <p:ph type="sldNum" sz="quarter" idx="12"/>
          </p:nvPr>
        </p:nvSpPr>
        <p:spPr/>
        <p:txBody>
          <a:bodyPr/>
          <a:lstStyle/>
          <a:p>
            <a:fld id="{A825137D-5D54-8448-BF1E-32A34E891867}" type="slidenum">
              <a:rPr lang="en-RU" smtClean="0"/>
              <a:t>15</a:t>
            </a:fld>
            <a:endParaRPr lang="en-RU"/>
          </a:p>
        </p:txBody>
      </p:sp>
      <p:pic>
        <p:nvPicPr>
          <p:cNvPr id="5" name="Picture 4">
            <a:extLst>
              <a:ext uri="{FF2B5EF4-FFF2-40B4-BE49-F238E27FC236}">
                <a16:creationId xmlns:a16="http://schemas.microsoft.com/office/drawing/2014/main" id="{4DCCB746-26CC-E3D1-EF21-4D23D97C1481}"/>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DF5F8045-13D5-DD66-3D50-E188ABCE0EDB}"/>
              </a:ext>
            </a:extLst>
          </p:cNvPr>
          <p:cNvPicPr>
            <a:picLocks noChangeAspect="1"/>
          </p:cNvPicPr>
          <p:nvPr/>
        </p:nvPicPr>
        <p:blipFill>
          <a:blip r:embed="rId3"/>
          <a:stretch>
            <a:fillRect/>
          </a:stretch>
        </p:blipFill>
        <p:spPr>
          <a:xfrm>
            <a:off x="6531183" y="1449458"/>
            <a:ext cx="4158833" cy="1458695"/>
          </a:xfrm>
          <a:prstGeom prst="rect">
            <a:avLst/>
          </a:prstGeom>
        </p:spPr>
      </p:pic>
      <p:sp>
        <p:nvSpPr>
          <p:cNvPr id="7" name="TextBox 6">
            <a:extLst>
              <a:ext uri="{FF2B5EF4-FFF2-40B4-BE49-F238E27FC236}">
                <a16:creationId xmlns:a16="http://schemas.microsoft.com/office/drawing/2014/main" id="{5B4F5092-C8E0-D725-4F72-DBAF63C0BBD0}"/>
              </a:ext>
            </a:extLst>
          </p:cNvPr>
          <p:cNvSpPr txBox="1"/>
          <p:nvPr/>
        </p:nvSpPr>
        <p:spPr>
          <a:xfrm>
            <a:off x="698500" y="6389318"/>
            <a:ext cx="4139467" cy="369332"/>
          </a:xfrm>
          <a:prstGeom prst="rect">
            <a:avLst/>
          </a:prstGeom>
          <a:noFill/>
        </p:spPr>
        <p:txBody>
          <a:bodyPr wrap="none" rtlCol="0">
            <a:spAutoFit/>
          </a:bodyPr>
          <a:lstStyle/>
          <a:p>
            <a:r>
              <a:rPr lang="ru-RU" dirty="0"/>
              <a:t>Источник: </a:t>
            </a:r>
            <a:r>
              <a:rPr lang="en-GB" dirty="0"/>
              <a:t>https://</a:t>
            </a:r>
            <a:r>
              <a:rPr lang="en-GB" dirty="0" err="1"/>
              <a:t>education.yandex.ru</a:t>
            </a:r>
            <a:endParaRPr lang="en-RU" dirty="0"/>
          </a:p>
        </p:txBody>
      </p:sp>
      <p:sp>
        <p:nvSpPr>
          <p:cNvPr id="8" name="TextBox 7">
            <a:extLst>
              <a:ext uri="{FF2B5EF4-FFF2-40B4-BE49-F238E27FC236}">
                <a16:creationId xmlns:a16="http://schemas.microsoft.com/office/drawing/2014/main" id="{91C672BE-FFB1-6CC0-F69B-355268A9C7DD}"/>
              </a:ext>
            </a:extLst>
          </p:cNvPr>
          <p:cNvSpPr txBox="1"/>
          <p:nvPr/>
        </p:nvSpPr>
        <p:spPr>
          <a:xfrm>
            <a:off x="6464300" y="3621463"/>
            <a:ext cx="5473700" cy="2246769"/>
          </a:xfrm>
          <a:prstGeom prst="rect">
            <a:avLst/>
          </a:prstGeom>
          <a:noFill/>
        </p:spPr>
        <p:txBody>
          <a:bodyPr wrap="square" rtlCol="0">
            <a:spAutoFit/>
          </a:bodyPr>
          <a:lstStyle/>
          <a:p>
            <a:pPr algn="l">
              <a:spcAft>
                <a:spcPts val="1200"/>
              </a:spcAft>
              <a:buNone/>
            </a:pPr>
            <a:r>
              <a:rPr lang="ru-RU" sz="2800" b="1" dirty="0"/>
              <a:t>Обоснование выбора:</a:t>
            </a:r>
            <a:r>
              <a:rPr lang="ru-RU" sz="2800" dirty="0"/>
              <a:t> был важен вклад и </a:t>
            </a:r>
            <a:r>
              <a:rPr lang="en-US" sz="2800" dirty="0"/>
              <a:t>P</a:t>
            </a:r>
            <a:r>
              <a:rPr lang="ru-RU" sz="2800" dirty="0"/>
              <a:t>, и </a:t>
            </a:r>
            <a:r>
              <a:rPr lang="en-US" sz="2800" dirty="0"/>
              <a:t>R. Macro, </a:t>
            </a:r>
            <a:r>
              <a:rPr lang="ru-RU" sz="2800" dirty="0"/>
              <a:t>т.к. хотим штрафовать за плохое качество на миноритарных классах</a:t>
            </a:r>
          </a:p>
        </p:txBody>
      </p:sp>
    </p:spTree>
    <p:extLst>
      <p:ext uri="{BB962C8B-B14F-4D97-AF65-F5344CB8AC3E}">
        <p14:creationId xmlns:p14="http://schemas.microsoft.com/office/powerpoint/2010/main" val="2474247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DA17D-6487-8EE1-591E-83273D908A1D}"/>
              </a:ext>
            </a:extLst>
          </p:cNvPr>
          <p:cNvSpPr>
            <a:spLocks noGrp="1"/>
          </p:cNvSpPr>
          <p:nvPr>
            <p:ph type="title"/>
          </p:nvPr>
        </p:nvSpPr>
        <p:spPr/>
        <p:txBody>
          <a:bodyPr/>
          <a:lstStyle/>
          <a:p>
            <a:r>
              <a:rPr lang="en-US" dirty="0">
                <a:solidFill>
                  <a:schemeClr val="tx2">
                    <a:lumMod val="75000"/>
                    <a:lumOff val="25000"/>
                  </a:schemeClr>
                </a:solidFill>
              </a:rPr>
              <a:t>CER</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8A6F16B2-DD48-7664-A681-1DB3DFFA5EBD}"/>
              </a:ext>
            </a:extLst>
          </p:cNvPr>
          <p:cNvSpPr>
            <a:spLocks noGrp="1"/>
          </p:cNvSpPr>
          <p:nvPr>
            <p:ph idx="1"/>
          </p:nvPr>
        </p:nvSpPr>
        <p:spPr>
          <a:xfrm>
            <a:off x="838200" y="1825625"/>
            <a:ext cx="10756900" cy="4351338"/>
          </a:xfrm>
        </p:spPr>
        <p:txBody>
          <a:bodyPr>
            <a:normAutofit/>
          </a:bodyPr>
          <a:lstStyle/>
          <a:p>
            <a:pPr marL="0" indent="0">
              <a:buNone/>
            </a:pPr>
            <a:r>
              <a:rPr lang="ru-RU" dirty="0"/>
              <a:t>Качество </a:t>
            </a:r>
            <a:r>
              <a:rPr lang="en-GB" dirty="0"/>
              <a:t>OCR </a:t>
            </a:r>
            <a:r>
              <a:rPr lang="ru-RU" dirty="0"/>
              <a:t>оценивается через </a:t>
            </a:r>
            <a:r>
              <a:rPr lang="en-GB" dirty="0"/>
              <a:t>Character Error Rate:</a:t>
            </a:r>
          </a:p>
          <a:p>
            <a:pPr marL="0" indent="0">
              <a:buNone/>
            </a:pPr>
            <a:endParaRPr lang="en-GB" dirty="0"/>
          </a:p>
          <a:p>
            <a:pPr marL="0" indent="0">
              <a:buNone/>
            </a:pPr>
            <a:endParaRPr lang="en-GB" dirty="0"/>
          </a:p>
          <a:p>
            <a:pPr marL="0" indent="0">
              <a:buNone/>
            </a:pPr>
            <a:endParaRPr lang="ru-RU" dirty="0"/>
          </a:p>
          <a:p>
            <a:pPr marL="0" indent="0">
              <a:buNone/>
            </a:pPr>
            <a:r>
              <a:rPr lang="en-GB" dirty="0"/>
              <a:t>S,D,I — </a:t>
            </a:r>
            <a:r>
              <a:rPr lang="ru-RU" dirty="0"/>
              <a:t>замены, удаления, вставки, </a:t>
            </a:r>
            <a:r>
              <a:rPr lang="en-GB" dirty="0"/>
              <a:t>N — </a:t>
            </a:r>
            <a:r>
              <a:rPr lang="ru-RU" dirty="0"/>
              <a:t>длина эталонной строки.</a:t>
            </a:r>
            <a:endParaRPr lang="en-US" dirty="0"/>
          </a:p>
          <a:p>
            <a:pPr marL="0" indent="0">
              <a:buNone/>
            </a:pPr>
            <a:r>
              <a:rPr lang="ru-RU" b="1" dirty="0"/>
              <a:t>Обоснование выбора</a:t>
            </a:r>
            <a:r>
              <a:rPr lang="ru-RU" dirty="0"/>
              <a:t>: полная точность строки </a:t>
            </a:r>
            <a:r>
              <a:rPr lang="en-US" dirty="0"/>
              <a:t>(Plate Accuracy) </a:t>
            </a:r>
            <a:r>
              <a:rPr lang="ru-RU" dirty="0"/>
              <a:t>– слишком жёсткая метрика (один неверный символ сразу даёт 0). Однако </a:t>
            </a:r>
            <a:r>
              <a:rPr lang="en-US" dirty="0"/>
              <a:t>Plate Accuracy </a:t>
            </a:r>
            <a:r>
              <a:rPr lang="en-US" dirty="0" err="1"/>
              <a:t>т</a:t>
            </a:r>
            <a:r>
              <a:rPr lang="ru-RU" dirty="0" err="1"/>
              <a:t>оже</a:t>
            </a:r>
            <a:r>
              <a:rPr lang="ru-RU" dirty="0"/>
              <a:t> используется (сколько номеров модель корректно распознала)</a:t>
            </a:r>
          </a:p>
          <a:p>
            <a:pPr marL="0" indent="0">
              <a:buNone/>
            </a:pPr>
            <a:endParaRPr lang="en-GB" dirty="0"/>
          </a:p>
        </p:txBody>
      </p:sp>
      <p:sp>
        <p:nvSpPr>
          <p:cNvPr id="4" name="Slide Number Placeholder 3">
            <a:extLst>
              <a:ext uri="{FF2B5EF4-FFF2-40B4-BE49-F238E27FC236}">
                <a16:creationId xmlns:a16="http://schemas.microsoft.com/office/drawing/2014/main" id="{A32F7202-8547-0087-CB19-7616210A2B8D}"/>
              </a:ext>
            </a:extLst>
          </p:cNvPr>
          <p:cNvSpPr>
            <a:spLocks noGrp="1"/>
          </p:cNvSpPr>
          <p:nvPr>
            <p:ph type="sldNum" sz="quarter" idx="12"/>
          </p:nvPr>
        </p:nvSpPr>
        <p:spPr/>
        <p:txBody>
          <a:bodyPr/>
          <a:lstStyle/>
          <a:p>
            <a:fld id="{A825137D-5D54-8448-BF1E-32A34E891867}" type="slidenum">
              <a:rPr lang="en-RU" smtClean="0"/>
              <a:t>16</a:t>
            </a:fld>
            <a:endParaRPr lang="en-RU"/>
          </a:p>
        </p:txBody>
      </p:sp>
      <p:pic>
        <p:nvPicPr>
          <p:cNvPr id="5" name="Picture 4">
            <a:extLst>
              <a:ext uri="{FF2B5EF4-FFF2-40B4-BE49-F238E27FC236}">
                <a16:creationId xmlns:a16="http://schemas.microsoft.com/office/drawing/2014/main" id="{0C6DC702-B04B-4CA1-97E6-F6941CD3B929}"/>
              </a:ext>
            </a:extLst>
          </p:cNvPr>
          <p:cNvPicPr>
            <a:picLocks noChangeAspect="1"/>
          </p:cNvPicPr>
          <p:nvPr/>
        </p:nvPicPr>
        <p:blipFill>
          <a:blip r:embed="rId2"/>
          <a:stretch>
            <a:fillRect/>
          </a:stretch>
        </p:blipFill>
        <p:spPr>
          <a:xfrm>
            <a:off x="5318342" y="6197181"/>
            <a:ext cx="1555315" cy="56146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A8D71C-9749-F587-09CC-B9A8832850BF}"/>
                  </a:ext>
                </a:extLst>
              </p:cNvPr>
              <p:cNvSpPr txBox="1"/>
              <p:nvPr/>
            </p:nvSpPr>
            <p:spPr>
              <a:xfrm>
                <a:off x="4603750" y="2685869"/>
                <a:ext cx="2984500"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𝐶𝐸𝑅</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𝐷</m:t>
                          </m:r>
                          <m:r>
                            <a:rPr lang="en-US" sz="2800" b="0" i="1" smtClean="0">
                              <a:latin typeface="Cambria Math" panose="02040503050406030204" pitchFamily="18" charset="0"/>
                            </a:rPr>
                            <m:t>+</m:t>
                          </m:r>
                          <m:r>
                            <a:rPr lang="en-US" sz="2800" b="0" i="1" smtClean="0">
                              <a:latin typeface="Cambria Math" panose="02040503050406030204" pitchFamily="18" charset="0"/>
                            </a:rPr>
                            <m:t>𝐼</m:t>
                          </m:r>
                        </m:num>
                        <m:den>
                          <m:r>
                            <a:rPr lang="en-US" sz="2800" b="0" i="1" smtClean="0">
                              <a:latin typeface="Cambria Math" panose="02040503050406030204" pitchFamily="18" charset="0"/>
                            </a:rPr>
                            <m:t>𝑁</m:t>
                          </m:r>
                        </m:den>
                      </m:f>
                    </m:oMath>
                  </m:oMathPara>
                </a14:m>
                <a:endParaRPr lang="en-RU" sz="2800" dirty="0"/>
              </a:p>
            </p:txBody>
          </p:sp>
        </mc:Choice>
        <mc:Fallback xmlns="">
          <p:sp>
            <p:nvSpPr>
              <p:cNvPr id="7" name="TextBox 6">
                <a:extLst>
                  <a:ext uri="{FF2B5EF4-FFF2-40B4-BE49-F238E27FC236}">
                    <a16:creationId xmlns:a16="http://schemas.microsoft.com/office/drawing/2014/main" id="{E6A8D71C-9749-F587-09CC-B9A8832850BF}"/>
                  </a:ext>
                </a:extLst>
              </p:cNvPr>
              <p:cNvSpPr txBox="1">
                <a:spLocks noRot="1" noChangeAspect="1" noMove="1" noResize="1" noEditPoints="1" noAdjustHandles="1" noChangeArrowheads="1" noChangeShapeType="1" noTextEdit="1"/>
              </p:cNvSpPr>
              <p:nvPr/>
            </p:nvSpPr>
            <p:spPr>
              <a:xfrm>
                <a:off x="4603750" y="2685869"/>
                <a:ext cx="2984500" cy="806631"/>
              </a:xfrm>
              <a:prstGeom prst="rect">
                <a:avLst/>
              </a:prstGeom>
              <a:blipFill>
                <a:blip r:embed="rId3"/>
                <a:stretch>
                  <a:fillRect t="-1538" b="-12308"/>
                </a:stretch>
              </a:blipFill>
            </p:spPr>
            <p:txBody>
              <a:bodyPr/>
              <a:lstStyle/>
              <a:p>
                <a:r>
                  <a:rPr lang="en-RU">
                    <a:noFill/>
                  </a:rPr>
                  <a:t> </a:t>
                </a:r>
              </a:p>
            </p:txBody>
          </p:sp>
        </mc:Fallback>
      </mc:AlternateContent>
    </p:spTree>
    <p:extLst>
      <p:ext uri="{BB962C8B-B14F-4D97-AF65-F5344CB8AC3E}">
        <p14:creationId xmlns:p14="http://schemas.microsoft.com/office/powerpoint/2010/main" val="3663289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2124F-B2BC-231B-4B32-EBADC2207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18325-EC19-13A5-26AF-9F75824308C5}"/>
              </a:ext>
            </a:extLst>
          </p:cNvPr>
          <p:cNvSpPr>
            <a:spLocks noGrp="1"/>
          </p:cNvSpPr>
          <p:nvPr>
            <p:ph type="title"/>
          </p:nvPr>
        </p:nvSpPr>
        <p:spPr>
          <a:xfrm>
            <a:off x="838200" y="2740025"/>
            <a:ext cx="10515600" cy="1325563"/>
          </a:xfrm>
        </p:spPr>
        <p:txBody>
          <a:bodyPr/>
          <a:lstStyle/>
          <a:p>
            <a:pPr algn="ctr"/>
            <a:r>
              <a:rPr lang="ru-RU" dirty="0">
                <a:solidFill>
                  <a:schemeClr val="tx2">
                    <a:lumMod val="75000"/>
                    <a:lumOff val="25000"/>
                  </a:schemeClr>
                </a:solidFill>
              </a:rPr>
              <a:t>Практическая часть ВКР</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A9418001-1AA2-BC91-F5F1-3ACDD1D048EA}"/>
              </a:ext>
            </a:extLst>
          </p:cNvPr>
          <p:cNvSpPr>
            <a:spLocks noGrp="1"/>
          </p:cNvSpPr>
          <p:nvPr>
            <p:ph type="sldNum" sz="quarter" idx="12"/>
          </p:nvPr>
        </p:nvSpPr>
        <p:spPr/>
        <p:txBody>
          <a:bodyPr/>
          <a:lstStyle/>
          <a:p>
            <a:fld id="{A825137D-5D54-8448-BF1E-32A34E891867}" type="slidenum">
              <a:rPr lang="en-RU" smtClean="0"/>
              <a:t>17</a:t>
            </a:fld>
            <a:endParaRPr lang="en-RU"/>
          </a:p>
        </p:txBody>
      </p:sp>
      <p:pic>
        <p:nvPicPr>
          <p:cNvPr id="5" name="Picture 4">
            <a:extLst>
              <a:ext uri="{FF2B5EF4-FFF2-40B4-BE49-F238E27FC236}">
                <a16:creationId xmlns:a16="http://schemas.microsoft.com/office/drawing/2014/main" id="{79BFFA3F-A529-4192-3013-53D9E3792432}"/>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214458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BA3E6-850A-7DB7-E57D-A2CF6F6FE7C7}"/>
              </a:ext>
            </a:extLst>
          </p:cNvPr>
          <p:cNvSpPr>
            <a:spLocks noGrp="1"/>
          </p:cNvSpPr>
          <p:nvPr>
            <p:ph type="title"/>
          </p:nvPr>
        </p:nvSpPr>
        <p:spPr/>
        <p:txBody>
          <a:bodyPr/>
          <a:lstStyle/>
          <a:p>
            <a:r>
              <a:rPr lang="en-US" dirty="0">
                <a:solidFill>
                  <a:schemeClr val="tx2">
                    <a:lumMod val="75000"/>
                    <a:lumOff val="25000"/>
                  </a:schemeClr>
                </a:solidFill>
              </a:rPr>
              <a:t>Notebook1.ipynb</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636F870B-41AE-3EDB-E501-825A738FA562}"/>
              </a:ext>
            </a:extLst>
          </p:cNvPr>
          <p:cNvSpPr>
            <a:spLocks noGrp="1"/>
          </p:cNvSpPr>
          <p:nvPr>
            <p:ph type="sldNum" sz="quarter" idx="12"/>
          </p:nvPr>
        </p:nvSpPr>
        <p:spPr/>
        <p:txBody>
          <a:bodyPr/>
          <a:lstStyle/>
          <a:p>
            <a:fld id="{A825137D-5D54-8448-BF1E-32A34E891867}" type="slidenum">
              <a:rPr lang="en-RU" smtClean="0"/>
              <a:t>18</a:t>
            </a:fld>
            <a:endParaRPr lang="en-RU"/>
          </a:p>
        </p:txBody>
      </p:sp>
      <p:pic>
        <p:nvPicPr>
          <p:cNvPr id="5" name="Picture 4">
            <a:extLst>
              <a:ext uri="{FF2B5EF4-FFF2-40B4-BE49-F238E27FC236}">
                <a16:creationId xmlns:a16="http://schemas.microsoft.com/office/drawing/2014/main" id="{4A02413D-18D6-D0EA-F44E-D8E938584F23}"/>
              </a:ext>
            </a:extLst>
          </p:cNvPr>
          <p:cNvPicPr>
            <a:picLocks noChangeAspect="1"/>
          </p:cNvPicPr>
          <p:nvPr/>
        </p:nvPicPr>
        <p:blipFill>
          <a:blip r:embed="rId2"/>
          <a:stretch>
            <a:fillRect/>
          </a:stretch>
        </p:blipFill>
        <p:spPr>
          <a:xfrm>
            <a:off x="5318342" y="6197181"/>
            <a:ext cx="1555315" cy="561469"/>
          </a:xfrm>
          <a:prstGeom prst="rect">
            <a:avLst/>
          </a:prstGeom>
        </p:spPr>
      </p:pic>
      <p:sp>
        <p:nvSpPr>
          <p:cNvPr id="7" name="Content Placeholder 6">
            <a:extLst>
              <a:ext uri="{FF2B5EF4-FFF2-40B4-BE49-F238E27FC236}">
                <a16:creationId xmlns:a16="http://schemas.microsoft.com/office/drawing/2014/main" id="{06AB7EEA-ACA8-67EB-CF29-18C3DA5AD7C8}"/>
              </a:ext>
            </a:extLst>
          </p:cNvPr>
          <p:cNvSpPr>
            <a:spLocks noGrp="1"/>
          </p:cNvSpPr>
          <p:nvPr>
            <p:ph idx="1"/>
          </p:nvPr>
        </p:nvSpPr>
        <p:spPr/>
        <p:txBody>
          <a:bodyPr>
            <a:normAutofit lnSpcReduction="10000"/>
          </a:bodyPr>
          <a:lstStyle/>
          <a:p>
            <a:pPr marL="0" indent="0">
              <a:buNone/>
            </a:pPr>
            <a:r>
              <a:rPr lang="ru-RU" b="1" dirty="0"/>
              <a:t>Краткое описание: </a:t>
            </a:r>
            <a:r>
              <a:rPr lang="ru-RU" dirty="0"/>
              <a:t>ищем автомобиль на изображении </a:t>
            </a:r>
            <a:r>
              <a:rPr lang="en-US" dirty="0"/>
              <a:t>(YOLOv8n),</a:t>
            </a:r>
            <a:r>
              <a:rPr lang="ru-RU" dirty="0"/>
              <a:t> локализуем его (фиксированный </a:t>
            </a:r>
            <a:r>
              <a:rPr lang="en-US" dirty="0" err="1"/>
              <a:t>bbox</a:t>
            </a:r>
            <a:r>
              <a:rPr lang="en-US" dirty="0"/>
              <a:t>), </a:t>
            </a:r>
            <a:r>
              <a:rPr lang="ru-RU" dirty="0"/>
              <a:t>затем ищем номер</a:t>
            </a:r>
            <a:r>
              <a:rPr lang="en-US" dirty="0"/>
              <a:t> (YOLOv8n), </a:t>
            </a:r>
            <a:r>
              <a:rPr lang="ru-RU" dirty="0"/>
              <a:t>локализируем его и </a:t>
            </a:r>
            <a:r>
              <a:rPr lang="en-US" dirty="0" err="1"/>
              <a:t>EasyOCR</a:t>
            </a:r>
            <a:r>
              <a:rPr lang="en-US" dirty="0"/>
              <a:t> – </a:t>
            </a:r>
            <a:r>
              <a:rPr lang="ru-RU" dirty="0"/>
              <a:t>получаем номерной знак.</a:t>
            </a:r>
          </a:p>
          <a:p>
            <a:pPr algn="l">
              <a:spcBef>
                <a:spcPts val="1800"/>
              </a:spcBef>
              <a:spcAft>
                <a:spcPts val="1200"/>
              </a:spcAft>
              <a:buNone/>
            </a:pPr>
            <a:r>
              <a:rPr lang="ru-RU" b="1" dirty="0" err="1"/>
              <a:t>Стэк</a:t>
            </a:r>
            <a:r>
              <a:rPr lang="ru-RU" b="1" dirty="0"/>
              <a:t>:</a:t>
            </a:r>
          </a:p>
          <a:p>
            <a:pPr algn="l">
              <a:buFont typeface="Arial" panose="020B0604020202020204" pitchFamily="34" charset="0"/>
              <a:buChar char="•"/>
            </a:pPr>
            <a:r>
              <a:rPr lang="en-GB" dirty="0" err="1"/>
              <a:t>Ultralytics</a:t>
            </a:r>
            <a:r>
              <a:rPr lang="en-GB" dirty="0"/>
              <a:t> YOLOv8n </a:t>
            </a:r>
            <a:r>
              <a:rPr lang="ru-RU" dirty="0"/>
              <a:t> –</a:t>
            </a:r>
            <a:r>
              <a:rPr lang="en-GB" dirty="0"/>
              <a:t> </a:t>
            </a:r>
            <a:r>
              <a:rPr lang="ru-RU" dirty="0"/>
              <a:t>архитектура детектора </a:t>
            </a:r>
          </a:p>
          <a:p>
            <a:pPr algn="l">
              <a:buFont typeface="Arial" panose="020B0604020202020204" pitchFamily="34" charset="0"/>
              <a:buChar char="•"/>
            </a:pPr>
            <a:r>
              <a:rPr lang="en-GB" dirty="0" err="1"/>
              <a:t>EasyOCR</a:t>
            </a:r>
            <a:r>
              <a:rPr lang="en-GB" dirty="0"/>
              <a:t> </a:t>
            </a:r>
            <a:r>
              <a:rPr lang="ru-RU" dirty="0"/>
              <a:t>–</a:t>
            </a:r>
            <a:r>
              <a:rPr lang="en-GB" dirty="0"/>
              <a:t> </a:t>
            </a:r>
            <a:r>
              <a:rPr lang="ru-RU" dirty="0"/>
              <a:t>распознавание  текста номера</a:t>
            </a:r>
          </a:p>
          <a:p>
            <a:pPr algn="l">
              <a:buFont typeface="Arial" panose="020B0604020202020204" pitchFamily="34" charset="0"/>
              <a:buChar char="•"/>
            </a:pPr>
            <a:r>
              <a:rPr lang="en-GB" dirty="0"/>
              <a:t>OpenCV, PIL, matplotlib — </a:t>
            </a:r>
            <a:r>
              <a:rPr lang="ru-RU" dirty="0"/>
              <a:t>обработка и визуализация</a:t>
            </a:r>
          </a:p>
          <a:p>
            <a:pPr algn="l">
              <a:buFont typeface="Arial" panose="020B0604020202020204" pitchFamily="34" charset="0"/>
              <a:buChar char="•"/>
            </a:pPr>
            <a:r>
              <a:rPr lang="en-GB" dirty="0"/>
              <a:t>Kaggle API — </a:t>
            </a:r>
            <a:r>
              <a:rPr lang="ru-RU" dirty="0"/>
              <a:t>автоматическая загрузка датасета</a:t>
            </a:r>
          </a:p>
          <a:p>
            <a:pPr marL="0" indent="0">
              <a:buNone/>
            </a:pPr>
            <a:endParaRPr lang="en-RU" dirty="0"/>
          </a:p>
        </p:txBody>
      </p:sp>
    </p:spTree>
    <p:extLst>
      <p:ext uri="{BB962C8B-B14F-4D97-AF65-F5344CB8AC3E}">
        <p14:creationId xmlns:p14="http://schemas.microsoft.com/office/powerpoint/2010/main" val="3625083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F17B4-AA4F-EB0B-0957-B4CC01117988}"/>
              </a:ext>
            </a:extLst>
          </p:cNvPr>
          <p:cNvSpPr>
            <a:spLocks noGrp="1"/>
          </p:cNvSpPr>
          <p:nvPr>
            <p:ph type="title"/>
          </p:nvPr>
        </p:nvSpPr>
        <p:spPr/>
        <p:txBody>
          <a:bodyPr/>
          <a:lstStyle/>
          <a:p>
            <a:r>
              <a:rPr lang="ru-RU" dirty="0">
                <a:solidFill>
                  <a:schemeClr val="tx2">
                    <a:lumMod val="75000"/>
                    <a:lumOff val="25000"/>
                  </a:schemeClr>
                </a:solidFill>
              </a:rPr>
              <a:t>Детекция ТС</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BF2E8AE-E721-FE6D-59EE-72052DB9BF70}"/>
              </a:ext>
            </a:extLst>
          </p:cNvPr>
          <p:cNvSpPr>
            <a:spLocks noGrp="1"/>
          </p:cNvSpPr>
          <p:nvPr>
            <p:ph idx="1"/>
          </p:nvPr>
        </p:nvSpPr>
        <p:spPr/>
        <p:txBody>
          <a:bodyPr/>
          <a:lstStyle/>
          <a:p>
            <a:pPr marL="0" indent="0">
              <a:buNone/>
            </a:pPr>
            <a:r>
              <a:rPr lang="ru-RU" b="1" dirty="0"/>
              <a:t>Детекция ТС: </a:t>
            </a:r>
            <a:r>
              <a:rPr lang="en-US" dirty="0"/>
              <a:t>YOLOv8</a:t>
            </a:r>
            <a:r>
              <a:rPr lang="ru-RU" dirty="0"/>
              <a:t> </a:t>
            </a:r>
            <a:r>
              <a:rPr lang="ru-RU" dirty="0" err="1"/>
              <a:t>предобученный</a:t>
            </a:r>
            <a:r>
              <a:rPr lang="ru-RU" dirty="0"/>
              <a:t> на </a:t>
            </a:r>
            <a:r>
              <a:rPr lang="en-US" dirty="0"/>
              <a:t>COCO </a:t>
            </a:r>
            <a:r>
              <a:rPr lang="ru-RU" dirty="0"/>
              <a:t>используем без дообучения. Целевые классы: (2) автомобиль, (3) мотоцикл, (5) автобус, (7) грузовик.</a:t>
            </a:r>
            <a:endParaRPr lang="en-RU" dirty="0"/>
          </a:p>
        </p:txBody>
      </p:sp>
      <p:sp>
        <p:nvSpPr>
          <p:cNvPr id="4" name="Slide Number Placeholder 3">
            <a:extLst>
              <a:ext uri="{FF2B5EF4-FFF2-40B4-BE49-F238E27FC236}">
                <a16:creationId xmlns:a16="http://schemas.microsoft.com/office/drawing/2014/main" id="{576A7113-DD3D-4B66-1B19-D51A52F3294C}"/>
              </a:ext>
            </a:extLst>
          </p:cNvPr>
          <p:cNvSpPr>
            <a:spLocks noGrp="1"/>
          </p:cNvSpPr>
          <p:nvPr>
            <p:ph type="sldNum" sz="quarter" idx="12"/>
          </p:nvPr>
        </p:nvSpPr>
        <p:spPr/>
        <p:txBody>
          <a:bodyPr/>
          <a:lstStyle/>
          <a:p>
            <a:fld id="{A825137D-5D54-8448-BF1E-32A34E891867}" type="slidenum">
              <a:rPr lang="en-RU" smtClean="0"/>
              <a:t>19</a:t>
            </a:fld>
            <a:endParaRPr lang="en-RU"/>
          </a:p>
        </p:txBody>
      </p:sp>
      <p:pic>
        <p:nvPicPr>
          <p:cNvPr id="5" name="Picture 4">
            <a:extLst>
              <a:ext uri="{FF2B5EF4-FFF2-40B4-BE49-F238E27FC236}">
                <a16:creationId xmlns:a16="http://schemas.microsoft.com/office/drawing/2014/main" id="{2498E317-A894-8ED4-AC43-41B06A0F03FA}"/>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361AA5DB-26CD-81E5-808B-97F185CD708E}"/>
              </a:ext>
            </a:extLst>
          </p:cNvPr>
          <p:cNvPicPr>
            <a:picLocks noChangeAspect="1"/>
          </p:cNvPicPr>
          <p:nvPr/>
        </p:nvPicPr>
        <p:blipFill>
          <a:blip r:embed="rId3"/>
          <a:stretch>
            <a:fillRect/>
          </a:stretch>
        </p:blipFill>
        <p:spPr>
          <a:xfrm>
            <a:off x="5100165" y="3404394"/>
            <a:ext cx="6794500" cy="1548514"/>
          </a:xfrm>
          <a:prstGeom prst="rect">
            <a:avLst/>
          </a:prstGeom>
        </p:spPr>
      </p:pic>
      <p:pic>
        <p:nvPicPr>
          <p:cNvPr id="1026" name="Picture 2">
            <a:extLst>
              <a:ext uri="{FF2B5EF4-FFF2-40B4-BE49-F238E27FC236}">
                <a16:creationId xmlns:a16="http://schemas.microsoft.com/office/drawing/2014/main" id="{AF92B5B5-E67A-C35A-CD48-632C1F38BA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976" y="3392488"/>
            <a:ext cx="4308230" cy="2868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778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CFBAB-52C2-A8B2-4918-8A3D83268931}"/>
              </a:ext>
            </a:extLst>
          </p:cNvPr>
          <p:cNvSpPr>
            <a:spLocks noGrp="1"/>
          </p:cNvSpPr>
          <p:nvPr>
            <p:ph type="title"/>
          </p:nvPr>
        </p:nvSpPr>
        <p:spPr/>
        <p:txBody>
          <a:bodyPr/>
          <a:lstStyle/>
          <a:p>
            <a:r>
              <a:rPr lang="ru-RU" dirty="0">
                <a:solidFill>
                  <a:schemeClr val="tx2">
                    <a:lumMod val="75000"/>
                    <a:lumOff val="25000"/>
                  </a:schemeClr>
                </a:solidFill>
              </a:rPr>
              <a:t>Детекция номерной плиты</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A01FD205-AFA6-C5C3-0EC9-A1214EB11AF0}"/>
              </a:ext>
            </a:extLst>
          </p:cNvPr>
          <p:cNvSpPr>
            <a:spLocks noGrp="1"/>
          </p:cNvSpPr>
          <p:nvPr>
            <p:ph idx="1"/>
          </p:nvPr>
        </p:nvSpPr>
        <p:spPr/>
        <p:txBody>
          <a:bodyPr/>
          <a:lstStyle/>
          <a:p>
            <a:pPr marL="0" indent="0">
              <a:buNone/>
            </a:pPr>
            <a:r>
              <a:rPr lang="en-US" b="1" dirty="0"/>
              <a:t>ANPR: </a:t>
            </a:r>
            <a:r>
              <a:rPr lang="ru-RU" dirty="0"/>
              <a:t>делаем </a:t>
            </a:r>
            <a:r>
              <a:rPr lang="en-US" dirty="0"/>
              <a:t>fine-tuning YOLOv8 </a:t>
            </a:r>
            <a:r>
              <a:rPr lang="ru-RU" dirty="0"/>
              <a:t>на один класс – </a:t>
            </a:r>
            <a:r>
              <a:rPr lang="en-US" dirty="0" err="1"/>
              <a:t>license_plate</a:t>
            </a:r>
            <a:r>
              <a:rPr lang="en-US" dirty="0"/>
              <a:t>.</a:t>
            </a:r>
          </a:p>
          <a:p>
            <a:pPr marL="0" indent="0">
              <a:buNone/>
            </a:pPr>
            <a:r>
              <a:rPr lang="en-US" dirty="0"/>
              <a:t> </a:t>
            </a:r>
            <a:endParaRPr lang="en-RU" dirty="0"/>
          </a:p>
        </p:txBody>
      </p:sp>
      <p:sp>
        <p:nvSpPr>
          <p:cNvPr id="4" name="Slide Number Placeholder 3">
            <a:extLst>
              <a:ext uri="{FF2B5EF4-FFF2-40B4-BE49-F238E27FC236}">
                <a16:creationId xmlns:a16="http://schemas.microsoft.com/office/drawing/2014/main" id="{580FA80C-A6AB-2A4C-E0A0-E67107AF9514}"/>
              </a:ext>
            </a:extLst>
          </p:cNvPr>
          <p:cNvSpPr>
            <a:spLocks noGrp="1"/>
          </p:cNvSpPr>
          <p:nvPr>
            <p:ph type="sldNum" sz="quarter" idx="12"/>
          </p:nvPr>
        </p:nvSpPr>
        <p:spPr/>
        <p:txBody>
          <a:bodyPr/>
          <a:lstStyle/>
          <a:p>
            <a:fld id="{A825137D-5D54-8448-BF1E-32A34E891867}" type="slidenum">
              <a:rPr lang="en-RU" smtClean="0"/>
              <a:t>20</a:t>
            </a:fld>
            <a:endParaRPr lang="en-RU"/>
          </a:p>
        </p:txBody>
      </p:sp>
      <p:pic>
        <p:nvPicPr>
          <p:cNvPr id="5" name="Picture 4">
            <a:extLst>
              <a:ext uri="{FF2B5EF4-FFF2-40B4-BE49-F238E27FC236}">
                <a16:creationId xmlns:a16="http://schemas.microsoft.com/office/drawing/2014/main" id="{43572B16-DF0C-7D00-87A6-EE1466B88F7A}"/>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2050" name="Picture 2">
            <a:extLst>
              <a:ext uri="{FF2B5EF4-FFF2-40B4-BE49-F238E27FC236}">
                <a16:creationId xmlns:a16="http://schemas.microsoft.com/office/drawing/2014/main" id="{FADC30B0-19A7-9713-D606-4DCF8AED9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2359839"/>
            <a:ext cx="11353800" cy="3817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570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3BB8B-1386-302F-AF5C-2134AEDD2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F27FB-FDDA-4FB9-7FBB-AEA9C1A4533D}"/>
              </a:ext>
            </a:extLst>
          </p:cNvPr>
          <p:cNvSpPr>
            <a:spLocks noGrp="1"/>
          </p:cNvSpPr>
          <p:nvPr>
            <p:ph type="title"/>
          </p:nvPr>
        </p:nvSpPr>
        <p:spPr/>
        <p:txBody>
          <a:bodyPr/>
          <a:lstStyle/>
          <a:p>
            <a:r>
              <a:rPr lang="ru-RU" dirty="0">
                <a:solidFill>
                  <a:schemeClr val="tx2">
                    <a:lumMod val="75000"/>
                    <a:lumOff val="25000"/>
                  </a:schemeClr>
                </a:solidFill>
              </a:rPr>
              <a:t>Графики обучения</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4C7DC44E-519E-9F2C-93AF-E154ACB4D414}"/>
              </a:ext>
            </a:extLst>
          </p:cNvPr>
          <p:cNvSpPr>
            <a:spLocks noGrp="1"/>
          </p:cNvSpPr>
          <p:nvPr>
            <p:ph type="sldNum" sz="quarter" idx="12"/>
          </p:nvPr>
        </p:nvSpPr>
        <p:spPr/>
        <p:txBody>
          <a:bodyPr/>
          <a:lstStyle/>
          <a:p>
            <a:fld id="{A825137D-5D54-8448-BF1E-32A34E891867}" type="slidenum">
              <a:rPr lang="en-RU" smtClean="0"/>
              <a:t>21</a:t>
            </a:fld>
            <a:endParaRPr lang="en-RU"/>
          </a:p>
        </p:txBody>
      </p:sp>
      <p:pic>
        <p:nvPicPr>
          <p:cNvPr id="5" name="Picture 4">
            <a:extLst>
              <a:ext uri="{FF2B5EF4-FFF2-40B4-BE49-F238E27FC236}">
                <a16:creationId xmlns:a16="http://schemas.microsoft.com/office/drawing/2014/main" id="{8FED9A60-A0E6-19CB-B731-20F4EC45FE02}"/>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1032" name="Picture 8">
            <a:extLst>
              <a:ext uri="{FF2B5EF4-FFF2-40B4-BE49-F238E27FC236}">
                <a16:creationId xmlns:a16="http://schemas.microsoft.com/office/drawing/2014/main" id="{424BD383-108A-5CBF-3B92-BE66F61E56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829" y="1433671"/>
            <a:ext cx="9516687" cy="4716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922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3C6A-1795-D22E-BBEE-AD065F125011}"/>
              </a:ext>
            </a:extLst>
          </p:cNvPr>
          <p:cNvSpPr>
            <a:spLocks noGrp="1"/>
          </p:cNvSpPr>
          <p:nvPr>
            <p:ph type="title"/>
          </p:nvPr>
        </p:nvSpPr>
        <p:spPr/>
        <p:txBody>
          <a:bodyPr/>
          <a:lstStyle/>
          <a:p>
            <a:r>
              <a:rPr lang="ru-RU" dirty="0">
                <a:solidFill>
                  <a:schemeClr val="tx2">
                    <a:lumMod val="75000"/>
                    <a:lumOff val="25000"/>
                  </a:schemeClr>
                </a:solidFill>
              </a:rPr>
              <a:t>Метрики </a:t>
            </a:r>
            <a:r>
              <a:rPr lang="en-US" dirty="0">
                <a:solidFill>
                  <a:schemeClr val="tx2">
                    <a:lumMod val="75000"/>
                    <a:lumOff val="25000"/>
                  </a:schemeClr>
                </a:solidFill>
              </a:rPr>
              <a:t>ANPR</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62A7F6F5-C3D4-EB58-8ED8-39B5F5702692}"/>
              </a:ext>
            </a:extLst>
          </p:cNvPr>
          <p:cNvSpPr>
            <a:spLocks noGrp="1"/>
          </p:cNvSpPr>
          <p:nvPr>
            <p:ph idx="1"/>
          </p:nvPr>
        </p:nvSpPr>
        <p:spPr>
          <a:xfrm>
            <a:off x="838200" y="1825625"/>
            <a:ext cx="5168900" cy="4351338"/>
          </a:xfrm>
        </p:spPr>
        <p:txBody>
          <a:bodyPr/>
          <a:lstStyle/>
          <a:p>
            <a:pPr marL="0" indent="0">
              <a:buNone/>
            </a:pPr>
            <a:r>
              <a:rPr lang="ru-RU" dirty="0"/>
              <a:t>На тестовой выборке получены следующие метрики. Датасет маленький =</a:t>
            </a:r>
            <a:r>
              <a:rPr lang="en-US" dirty="0"/>
              <a:t>&gt; </a:t>
            </a:r>
            <a:r>
              <a:rPr lang="ru-RU" dirty="0"/>
              <a:t>использовался обычный </a:t>
            </a:r>
            <a:r>
              <a:rPr lang="en-US" dirty="0"/>
              <a:t>hold-out</a:t>
            </a:r>
            <a:endParaRPr lang="en-RU" dirty="0"/>
          </a:p>
        </p:txBody>
      </p:sp>
      <p:sp>
        <p:nvSpPr>
          <p:cNvPr id="4" name="Slide Number Placeholder 3">
            <a:extLst>
              <a:ext uri="{FF2B5EF4-FFF2-40B4-BE49-F238E27FC236}">
                <a16:creationId xmlns:a16="http://schemas.microsoft.com/office/drawing/2014/main" id="{CEE07215-7383-68A2-9F52-8F91B2524385}"/>
              </a:ext>
            </a:extLst>
          </p:cNvPr>
          <p:cNvSpPr>
            <a:spLocks noGrp="1"/>
          </p:cNvSpPr>
          <p:nvPr>
            <p:ph type="sldNum" sz="quarter" idx="12"/>
          </p:nvPr>
        </p:nvSpPr>
        <p:spPr/>
        <p:txBody>
          <a:bodyPr/>
          <a:lstStyle/>
          <a:p>
            <a:fld id="{A825137D-5D54-8448-BF1E-32A34E891867}" type="slidenum">
              <a:rPr lang="en-RU" smtClean="0"/>
              <a:t>22</a:t>
            </a:fld>
            <a:endParaRPr lang="en-RU"/>
          </a:p>
        </p:txBody>
      </p:sp>
      <p:pic>
        <p:nvPicPr>
          <p:cNvPr id="5" name="Picture 4">
            <a:extLst>
              <a:ext uri="{FF2B5EF4-FFF2-40B4-BE49-F238E27FC236}">
                <a16:creationId xmlns:a16="http://schemas.microsoft.com/office/drawing/2014/main" id="{349A8844-C3C0-E06C-23E1-8C8340EAE15A}"/>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56B42F8A-ED8D-60FC-D00D-98023139ACFF}"/>
              </a:ext>
            </a:extLst>
          </p:cNvPr>
          <p:cNvPicPr>
            <a:picLocks noChangeAspect="1"/>
          </p:cNvPicPr>
          <p:nvPr/>
        </p:nvPicPr>
        <p:blipFill>
          <a:blip r:embed="rId3"/>
          <a:stretch>
            <a:fillRect/>
          </a:stretch>
        </p:blipFill>
        <p:spPr>
          <a:xfrm>
            <a:off x="6556157" y="1507705"/>
            <a:ext cx="4832350" cy="4386287"/>
          </a:xfrm>
          <a:prstGeom prst="rect">
            <a:avLst/>
          </a:prstGeom>
        </p:spPr>
      </p:pic>
    </p:spTree>
    <p:extLst>
      <p:ext uri="{BB962C8B-B14F-4D97-AF65-F5344CB8AC3E}">
        <p14:creationId xmlns:p14="http://schemas.microsoft.com/office/powerpoint/2010/main" val="2887171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4ED0B-2FAA-745E-B2E9-A7222F45E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38C2F-D625-165D-8CD2-67DBC35957A7}"/>
              </a:ext>
            </a:extLst>
          </p:cNvPr>
          <p:cNvSpPr>
            <a:spLocks noGrp="1"/>
          </p:cNvSpPr>
          <p:nvPr>
            <p:ph type="title"/>
          </p:nvPr>
        </p:nvSpPr>
        <p:spPr/>
        <p:txBody>
          <a:bodyPr/>
          <a:lstStyle/>
          <a:p>
            <a:r>
              <a:rPr lang="en-RU" dirty="0">
                <a:solidFill>
                  <a:schemeClr val="tx2">
                    <a:lumMod val="75000"/>
                    <a:lumOff val="25000"/>
                  </a:schemeClr>
                </a:solidFill>
              </a:rPr>
              <a:t>Notebook-2.ipynb</a:t>
            </a:r>
          </a:p>
        </p:txBody>
      </p:sp>
      <p:sp>
        <p:nvSpPr>
          <p:cNvPr id="3" name="Content Placeholder 2">
            <a:extLst>
              <a:ext uri="{FF2B5EF4-FFF2-40B4-BE49-F238E27FC236}">
                <a16:creationId xmlns:a16="http://schemas.microsoft.com/office/drawing/2014/main" id="{6C71FB9B-970E-4F2A-CF36-BF030AAA31A9}"/>
              </a:ext>
            </a:extLst>
          </p:cNvPr>
          <p:cNvSpPr>
            <a:spLocks noGrp="1"/>
          </p:cNvSpPr>
          <p:nvPr>
            <p:ph idx="1"/>
          </p:nvPr>
        </p:nvSpPr>
        <p:spPr/>
        <p:txBody>
          <a:bodyPr>
            <a:normAutofit/>
          </a:bodyPr>
          <a:lstStyle/>
          <a:p>
            <a:pPr marL="0" indent="0">
              <a:buNone/>
            </a:pPr>
            <a:r>
              <a:rPr lang="ru-RU" b="1" dirty="0"/>
              <a:t>Краткое описание: </a:t>
            </a:r>
            <a:r>
              <a:rPr lang="ru-RU" dirty="0"/>
              <a:t>определяем цвет автомобиля по его кропу (</a:t>
            </a:r>
            <a:r>
              <a:rPr lang="en-US" dirty="0" err="1"/>
              <a:t>bbox</a:t>
            </a:r>
            <a:r>
              <a:rPr lang="en-US" dirty="0"/>
              <a:t> </a:t>
            </a:r>
            <a:r>
              <a:rPr lang="ru-RU" dirty="0"/>
              <a:t>от </a:t>
            </a:r>
            <a:r>
              <a:rPr lang="en-US" dirty="0"/>
              <a:t>YOLO</a:t>
            </a:r>
            <a:r>
              <a:rPr lang="ru-RU" dirty="0"/>
              <a:t>)</a:t>
            </a:r>
            <a:r>
              <a:rPr lang="en-US" dirty="0"/>
              <a:t> c </a:t>
            </a:r>
            <a:r>
              <a:rPr lang="ru-RU" dirty="0"/>
              <a:t>помощью </a:t>
            </a:r>
            <a:r>
              <a:rPr lang="en-US" dirty="0"/>
              <a:t>ResNet18</a:t>
            </a:r>
            <a:endParaRPr lang="ru-RU" dirty="0"/>
          </a:p>
          <a:p>
            <a:pPr algn="l">
              <a:spcBef>
                <a:spcPts val="1800"/>
              </a:spcBef>
              <a:spcAft>
                <a:spcPts val="1200"/>
              </a:spcAft>
              <a:buNone/>
            </a:pPr>
            <a:r>
              <a:rPr lang="ru-RU" b="1" dirty="0" err="1"/>
              <a:t>Стэк</a:t>
            </a:r>
            <a:r>
              <a:rPr lang="ru-RU" b="1" dirty="0"/>
              <a:t>:</a:t>
            </a:r>
          </a:p>
          <a:p>
            <a:pPr algn="l">
              <a:buFont typeface="Arial" panose="020B0604020202020204" pitchFamily="34" charset="0"/>
              <a:buChar char="•"/>
            </a:pPr>
            <a:r>
              <a:rPr lang="en-GB" dirty="0"/>
              <a:t>ResNet18 (</a:t>
            </a:r>
            <a:r>
              <a:rPr lang="en-GB" dirty="0" err="1"/>
              <a:t>torchvision</a:t>
            </a:r>
            <a:r>
              <a:rPr lang="en-GB" dirty="0"/>
              <a:t>, ImageNet pretrained) — backbone </a:t>
            </a:r>
            <a:r>
              <a:rPr lang="ru-RU" dirty="0"/>
              <a:t>классификатора</a:t>
            </a:r>
          </a:p>
          <a:p>
            <a:pPr algn="l">
              <a:buFont typeface="Arial" panose="020B0604020202020204" pitchFamily="34" charset="0"/>
              <a:buChar char="•"/>
            </a:pPr>
            <a:r>
              <a:rPr lang="en-GB" dirty="0" err="1"/>
              <a:t>PyTorch</a:t>
            </a:r>
            <a:r>
              <a:rPr lang="en-GB" dirty="0"/>
              <a:t> — </a:t>
            </a:r>
            <a:r>
              <a:rPr lang="ru-RU" dirty="0"/>
              <a:t>обучение, аугментации, </a:t>
            </a:r>
            <a:r>
              <a:rPr lang="en-GB" dirty="0" err="1"/>
              <a:t>DataLoader</a:t>
            </a:r>
            <a:endParaRPr lang="en-GB" dirty="0"/>
          </a:p>
          <a:p>
            <a:pPr algn="l">
              <a:buFont typeface="Arial" panose="020B0604020202020204" pitchFamily="34" charset="0"/>
              <a:buChar char="•"/>
            </a:pPr>
            <a:r>
              <a:rPr lang="en-GB" dirty="0"/>
              <a:t>scikit-learn — </a:t>
            </a:r>
            <a:r>
              <a:rPr lang="ru-RU" dirty="0"/>
              <a:t>метрики</a:t>
            </a:r>
            <a:endParaRPr lang="en-GB" dirty="0"/>
          </a:p>
          <a:p>
            <a:pPr algn="l">
              <a:buFont typeface="Arial" panose="020B0604020202020204" pitchFamily="34" charset="0"/>
              <a:buChar char="•"/>
            </a:pPr>
            <a:r>
              <a:rPr lang="en-GB" dirty="0"/>
              <a:t>seaborn / matplotlib — </a:t>
            </a:r>
            <a:r>
              <a:rPr lang="ru-RU" dirty="0"/>
              <a:t>визуализация</a:t>
            </a:r>
          </a:p>
        </p:txBody>
      </p:sp>
      <p:sp>
        <p:nvSpPr>
          <p:cNvPr id="4" name="Slide Number Placeholder 3">
            <a:extLst>
              <a:ext uri="{FF2B5EF4-FFF2-40B4-BE49-F238E27FC236}">
                <a16:creationId xmlns:a16="http://schemas.microsoft.com/office/drawing/2014/main" id="{18297643-1B9B-3CAD-07D4-273B699D964D}"/>
              </a:ext>
            </a:extLst>
          </p:cNvPr>
          <p:cNvSpPr>
            <a:spLocks noGrp="1"/>
          </p:cNvSpPr>
          <p:nvPr>
            <p:ph type="sldNum" sz="quarter" idx="12"/>
          </p:nvPr>
        </p:nvSpPr>
        <p:spPr/>
        <p:txBody>
          <a:bodyPr/>
          <a:lstStyle/>
          <a:p>
            <a:fld id="{A825137D-5D54-8448-BF1E-32A34E891867}" type="slidenum">
              <a:rPr lang="en-RU" smtClean="0"/>
              <a:t>23</a:t>
            </a:fld>
            <a:endParaRPr lang="en-RU"/>
          </a:p>
        </p:txBody>
      </p:sp>
      <p:pic>
        <p:nvPicPr>
          <p:cNvPr id="5" name="Picture 4">
            <a:extLst>
              <a:ext uri="{FF2B5EF4-FFF2-40B4-BE49-F238E27FC236}">
                <a16:creationId xmlns:a16="http://schemas.microsoft.com/office/drawing/2014/main" id="{8124316B-4B93-5381-4142-BB2BBFD6B0F6}"/>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1541516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46390-78E8-8EF1-8229-E9535BDE0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C4BEA-85E9-F895-4737-6106176F1EA4}"/>
              </a:ext>
            </a:extLst>
          </p:cNvPr>
          <p:cNvSpPr>
            <a:spLocks noGrp="1"/>
          </p:cNvSpPr>
          <p:nvPr>
            <p:ph type="title"/>
          </p:nvPr>
        </p:nvSpPr>
        <p:spPr/>
        <p:txBody>
          <a:bodyPr/>
          <a:lstStyle/>
          <a:p>
            <a:r>
              <a:rPr lang="ru-RU" dirty="0">
                <a:solidFill>
                  <a:schemeClr val="tx2">
                    <a:lumMod val="75000"/>
                    <a:lumOff val="25000"/>
                  </a:schemeClr>
                </a:solidFill>
              </a:rPr>
              <a:t>Классификация цвета ТС</a:t>
            </a:r>
            <a:endParaRPr lang="en-RU" dirty="0">
              <a:solidFill>
                <a:schemeClr val="tx2">
                  <a:lumMod val="75000"/>
                  <a:lumOff val="25000"/>
                </a:schemeClr>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46809A-1C92-A5FE-7AC1-E64C0297CD67}"/>
                  </a:ext>
                </a:extLst>
              </p:cNvPr>
              <p:cNvSpPr>
                <a:spLocks noGrp="1"/>
              </p:cNvSpPr>
              <p:nvPr>
                <p:ph idx="1"/>
              </p:nvPr>
            </p:nvSpPr>
            <p:spPr>
              <a:xfrm>
                <a:off x="838200" y="1825625"/>
                <a:ext cx="8483600" cy="4351338"/>
              </a:xfrm>
            </p:spPr>
            <p:txBody>
              <a:bodyPr>
                <a:normAutofit fontScale="92500"/>
              </a:bodyPr>
              <a:lstStyle/>
              <a:p>
                <a:pPr marL="0" indent="0">
                  <a:buNone/>
                </a:pPr>
                <a:r>
                  <a:rPr lang="ru-RU" b="1" dirty="0"/>
                  <a:t>Датасет: </a:t>
                </a:r>
                <a:r>
                  <a:rPr lang="en-GB" dirty="0" err="1"/>
                  <a:t>VCoR</a:t>
                </a:r>
                <a:r>
                  <a:rPr lang="en-GB" dirty="0"/>
                  <a:t> (Vehicle </a:t>
                </a:r>
                <a:r>
                  <a:rPr lang="en-GB" dirty="0" err="1"/>
                  <a:t>Color</a:t>
                </a:r>
                <a:r>
                  <a:rPr lang="en-GB" dirty="0"/>
                  <a:t> Recognition)</a:t>
                </a:r>
                <a:r>
                  <a:rPr lang="ru-RU" dirty="0"/>
                  <a:t> – 9 классов, примерно 5к объектов</a:t>
                </a:r>
              </a:p>
              <a:p>
                <a:pPr marL="0" indent="0">
                  <a:buNone/>
                </a:pPr>
                <a:r>
                  <a:rPr lang="ru-RU" b="1" dirty="0"/>
                  <a:t>Методология обучения: </a:t>
                </a:r>
                <a:r>
                  <a:rPr lang="ru-RU" dirty="0"/>
                  <a:t>двухфазное обучение</a:t>
                </a:r>
              </a:p>
              <a:p>
                <a:pPr algn="l">
                  <a:buFont typeface="Arial" panose="020B0604020202020204" pitchFamily="34" charset="0"/>
                  <a:buChar char="•"/>
                </a:pPr>
                <a:r>
                  <a:rPr lang="ru-RU" dirty="0"/>
                  <a:t>Фаза 1 (эпохи 1–4): </a:t>
                </a:r>
                <a:r>
                  <a:rPr lang="en-GB" dirty="0"/>
                  <a:t>backbone </a:t>
                </a:r>
                <a:r>
                  <a:rPr lang="ru-RU" dirty="0"/>
                  <a:t>заморожен, обучается только </a:t>
                </a:r>
                <a:r>
                  <a:rPr lang="en-GB" dirty="0"/>
                  <a:t>fc-</a:t>
                </a:r>
                <a:r>
                  <a:rPr lang="ru-RU" dirty="0"/>
                  <a:t>слой. Оптимизатор: </a:t>
                </a:r>
                <a:r>
                  <a:rPr lang="en-GB" dirty="0"/>
                  <a:t>Adam, </a:t>
                </a:r>
                <a14:m>
                  <m:oMath xmlns:m="http://schemas.openxmlformats.org/officeDocument/2006/math">
                    <m:r>
                      <a:rPr lang="en-US" b="0" i="1" dirty="0" smtClean="0">
                        <a:latin typeface="Cambria Math" panose="02040503050406030204" pitchFamily="18" charset="0"/>
                      </a:rPr>
                      <m:t>𝑙𝑟</m:t>
                    </m:r>
                  </m:oMath>
                </a14:m>
                <a:r>
                  <a:rPr lang="en-GB" dirty="0"/>
                  <a:t>=1×10⁻³</a:t>
                </a:r>
              </a:p>
              <a:p>
                <a:pPr algn="l">
                  <a:buFont typeface="Arial" panose="020B0604020202020204" pitchFamily="34" charset="0"/>
                  <a:buChar char="•"/>
                </a:pPr>
                <a:r>
                  <a:rPr lang="ru-RU" dirty="0"/>
                  <a:t>Фаза 2 (эпохи 5–20): </a:t>
                </a:r>
                <a:r>
                  <a:rPr lang="en-GB" dirty="0"/>
                  <a:t>backbone </a:t>
                </a:r>
                <a:r>
                  <a:rPr lang="ru-RU" dirty="0"/>
                  <a:t>размораживается полностью, </a:t>
                </a:r>
                <a14:m>
                  <m:oMath xmlns:m="http://schemas.openxmlformats.org/officeDocument/2006/math">
                    <m:r>
                      <a:rPr lang="en-GB" i="1" dirty="0" smtClean="0">
                        <a:latin typeface="Cambria Math" panose="02040503050406030204" pitchFamily="18" charset="0"/>
                      </a:rPr>
                      <m:t>𝑙𝑟</m:t>
                    </m:r>
                  </m:oMath>
                </a14:m>
                <a:r>
                  <a:rPr lang="en-GB" dirty="0"/>
                  <a:t> </a:t>
                </a:r>
                <a:r>
                  <a:rPr lang="ru-RU" dirty="0"/>
                  <a:t>снижается до 1×10⁻⁴</a:t>
                </a:r>
                <a:endParaRPr lang="en-US" dirty="0"/>
              </a:p>
              <a:p>
                <a:pPr marL="0" indent="0" algn="l">
                  <a:buNone/>
                </a:pPr>
                <a:r>
                  <a:rPr lang="ru-RU" dirty="0"/>
                  <a:t>Используется </a:t>
                </a:r>
                <a:r>
                  <a:rPr lang="en-US" b="1" dirty="0"/>
                  <a:t>dropout</a:t>
                </a:r>
                <a:r>
                  <a:rPr lang="en-US" dirty="0"/>
                  <a:t> </a:t>
                </a:r>
                <a:r>
                  <a:rPr lang="ru-RU" dirty="0"/>
                  <a:t>и </a:t>
                </a:r>
                <a:r>
                  <a:rPr lang="ru-RU" b="1" dirty="0" err="1"/>
                  <a:t>аугументации</a:t>
                </a:r>
                <a:r>
                  <a:rPr lang="ru-RU" dirty="0"/>
                  <a:t>: </a:t>
                </a:r>
                <a:r>
                  <a:rPr lang="en-GB" b="0" i="0" dirty="0" err="1">
                    <a:solidFill>
                      <a:srgbClr val="3B3B3B"/>
                    </a:solidFill>
                    <a:effectLst/>
                    <a:latin typeface="-apple-system"/>
                  </a:rPr>
                  <a:t>RandomHorizontalFlip</a:t>
                </a:r>
                <a:r>
                  <a:rPr lang="en-GB" b="0" i="0" dirty="0">
                    <a:solidFill>
                      <a:srgbClr val="3B3B3B"/>
                    </a:solidFill>
                    <a:effectLst/>
                    <a:latin typeface="-apple-system"/>
                  </a:rPr>
                  <a:t>, </a:t>
                </a:r>
                <a:r>
                  <a:rPr lang="en-GB" b="0" i="0" dirty="0" err="1">
                    <a:solidFill>
                      <a:srgbClr val="3B3B3B"/>
                    </a:solidFill>
                    <a:effectLst/>
                    <a:latin typeface="-apple-system"/>
                  </a:rPr>
                  <a:t>ColorJitter</a:t>
                </a:r>
                <a:r>
                  <a:rPr lang="en-GB" b="0" i="0" dirty="0">
                    <a:solidFill>
                      <a:srgbClr val="3B3B3B"/>
                    </a:solidFill>
                    <a:effectLst/>
                    <a:latin typeface="-apple-system"/>
                  </a:rPr>
                  <a:t>, </a:t>
                </a:r>
                <a:r>
                  <a:rPr lang="en-GB" b="0" i="0" dirty="0" err="1">
                    <a:solidFill>
                      <a:srgbClr val="3B3B3B"/>
                    </a:solidFill>
                    <a:effectLst/>
                    <a:latin typeface="-apple-system"/>
                  </a:rPr>
                  <a:t>RandomGrayscale</a:t>
                </a:r>
                <a:r>
                  <a:rPr lang="en-GB" b="0" i="0" dirty="0">
                    <a:solidFill>
                      <a:srgbClr val="3B3B3B"/>
                    </a:solidFill>
                    <a:effectLst/>
                    <a:latin typeface="-apple-system"/>
                  </a:rPr>
                  <a:t>, </a:t>
                </a:r>
                <a:r>
                  <a:rPr lang="en-GB" b="0" i="0" dirty="0" err="1">
                    <a:solidFill>
                      <a:srgbClr val="3B3B3B"/>
                    </a:solidFill>
                    <a:effectLst/>
                    <a:latin typeface="-apple-system"/>
                  </a:rPr>
                  <a:t>RandomErasing</a:t>
                </a:r>
                <a:endParaRPr lang="en-GB" dirty="0"/>
              </a:p>
            </p:txBody>
          </p:sp>
        </mc:Choice>
        <mc:Fallback xmlns="">
          <p:sp>
            <p:nvSpPr>
              <p:cNvPr id="3" name="Content Placeholder 2">
                <a:extLst>
                  <a:ext uri="{FF2B5EF4-FFF2-40B4-BE49-F238E27FC236}">
                    <a16:creationId xmlns:a16="http://schemas.microsoft.com/office/drawing/2014/main" id="{5446809A-1C92-A5FE-7AC1-E64C0297CD67}"/>
                  </a:ext>
                </a:extLst>
              </p:cNvPr>
              <p:cNvSpPr>
                <a:spLocks noGrp="1" noRot="1" noChangeAspect="1" noMove="1" noResize="1" noEditPoints="1" noAdjustHandles="1" noChangeArrowheads="1" noChangeShapeType="1" noTextEdit="1"/>
              </p:cNvSpPr>
              <p:nvPr>
                <p:ph idx="1"/>
              </p:nvPr>
            </p:nvSpPr>
            <p:spPr>
              <a:xfrm>
                <a:off x="838200" y="1825625"/>
                <a:ext cx="8483600" cy="4351338"/>
              </a:xfrm>
              <a:blipFill>
                <a:blip r:embed="rId2"/>
                <a:stretch>
                  <a:fillRect l="-1347" t="-2035"/>
                </a:stretch>
              </a:blipFill>
            </p:spPr>
            <p:txBody>
              <a:bodyPr/>
              <a:lstStyle/>
              <a:p>
                <a:r>
                  <a:rPr lang="en-RU">
                    <a:noFill/>
                  </a:rPr>
                  <a:t> </a:t>
                </a:r>
              </a:p>
            </p:txBody>
          </p:sp>
        </mc:Fallback>
      </mc:AlternateContent>
      <p:sp>
        <p:nvSpPr>
          <p:cNvPr id="4" name="Slide Number Placeholder 3">
            <a:extLst>
              <a:ext uri="{FF2B5EF4-FFF2-40B4-BE49-F238E27FC236}">
                <a16:creationId xmlns:a16="http://schemas.microsoft.com/office/drawing/2014/main" id="{732DB671-7739-2E08-6B80-E9007F88CD16}"/>
              </a:ext>
            </a:extLst>
          </p:cNvPr>
          <p:cNvSpPr>
            <a:spLocks noGrp="1"/>
          </p:cNvSpPr>
          <p:nvPr>
            <p:ph type="sldNum" sz="quarter" idx="12"/>
          </p:nvPr>
        </p:nvSpPr>
        <p:spPr/>
        <p:txBody>
          <a:bodyPr/>
          <a:lstStyle/>
          <a:p>
            <a:fld id="{A825137D-5D54-8448-BF1E-32A34E891867}" type="slidenum">
              <a:rPr lang="en-RU" smtClean="0"/>
              <a:t>24</a:t>
            </a:fld>
            <a:endParaRPr lang="en-RU" dirty="0"/>
          </a:p>
        </p:txBody>
      </p:sp>
      <p:pic>
        <p:nvPicPr>
          <p:cNvPr id="5" name="Picture 4">
            <a:extLst>
              <a:ext uri="{FF2B5EF4-FFF2-40B4-BE49-F238E27FC236}">
                <a16:creationId xmlns:a16="http://schemas.microsoft.com/office/drawing/2014/main" id="{76108D0C-D87B-F1ED-31F2-4B10999639FA}"/>
              </a:ext>
            </a:extLst>
          </p:cNvPr>
          <p:cNvPicPr>
            <a:picLocks noChangeAspect="1"/>
          </p:cNvPicPr>
          <p:nvPr/>
        </p:nvPicPr>
        <p:blipFill>
          <a:blip r:embed="rId3"/>
          <a:stretch>
            <a:fillRect/>
          </a:stretch>
        </p:blipFill>
        <p:spPr>
          <a:xfrm>
            <a:off x="5318342" y="6197181"/>
            <a:ext cx="1555315" cy="561469"/>
          </a:xfrm>
          <a:prstGeom prst="rect">
            <a:avLst/>
          </a:prstGeom>
        </p:spPr>
      </p:pic>
      <p:pic>
        <p:nvPicPr>
          <p:cNvPr id="1026" name="Picture 2">
            <a:extLst>
              <a:ext uri="{FF2B5EF4-FFF2-40B4-BE49-F238E27FC236}">
                <a16:creationId xmlns:a16="http://schemas.microsoft.com/office/drawing/2014/main" id="{B804691B-6E23-B9E4-60D7-D5139E0CF8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197"/>
          <a:stretch/>
        </p:blipFill>
        <p:spPr bwMode="auto">
          <a:xfrm>
            <a:off x="9410700" y="922985"/>
            <a:ext cx="2413000" cy="5099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630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9A57-4E99-7BB5-9C26-104FE378F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45DB9-3B0E-3793-FE38-C5D53C57ED6C}"/>
              </a:ext>
            </a:extLst>
          </p:cNvPr>
          <p:cNvSpPr>
            <a:spLocks noGrp="1"/>
          </p:cNvSpPr>
          <p:nvPr>
            <p:ph type="title"/>
          </p:nvPr>
        </p:nvSpPr>
        <p:spPr/>
        <p:txBody>
          <a:bodyPr/>
          <a:lstStyle/>
          <a:p>
            <a:r>
              <a:rPr lang="ru-RU" dirty="0">
                <a:solidFill>
                  <a:schemeClr val="tx2">
                    <a:lumMod val="75000"/>
                    <a:lumOff val="25000"/>
                  </a:schemeClr>
                </a:solidFill>
              </a:rPr>
              <a:t>Графики обучения</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CF44914A-70C4-426D-F81B-E0143211262B}"/>
              </a:ext>
            </a:extLst>
          </p:cNvPr>
          <p:cNvSpPr>
            <a:spLocks noGrp="1"/>
          </p:cNvSpPr>
          <p:nvPr>
            <p:ph type="sldNum" sz="quarter" idx="12"/>
          </p:nvPr>
        </p:nvSpPr>
        <p:spPr/>
        <p:txBody>
          <a:bodyPr/>
          <a:lstStyle/>
          <a:p>
            <a:fld id="{A825137D-5D54-8448-BF1E-32A34E891867}" type="slidenum">
              <a:rPr lang="en-RU" smtClean="0"/>
              <a:t>25</a:t>
            </a:fld>
            <a:endParaRPr lang="en-RU"/>
          </a:p>
        </p:txBody>
      </p:sp>
      <p:pic>
        <p:nvPicPr>
          <p:cNvPr id="5" name="Picture 4">
            <a:extLst>
              <a:ext uri="{FF2B5EF4-FFF2-40B4-BE49-F238E27FC236}">
                <a16:creationId xmlns:a16="http://schemas.microsoft.com/office/drawing/2014/main" id="{948D7EEB-F129-F93A-D7CE-FAC2BA49A98B}"/>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2050" name="Picture 2">
            <a:extLst>
              <a:ext uri="{FF2B5EF4-FFF2-40B4-BE49-F238E27FC236}">
                <a16:creationId xmlns:a16="http://schemas.microsoft.com/office/drawing/2014/main" id="{48638DAC-5F3F-0B16-72AE-60D087B19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834" y="1690688"/>
            <a:ext cx="10785966" cy="3592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165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A66A-91BF-8522-57B6-666B5CBCC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745D9-9C12-A8F6-DFE4-D96AF55D0142}"/>
              </a:ext>
            </a:extLst>
          </p:cNvPr>
          <p:cNvSpPr>
            <a:spLocks noGrp="1"/>
          </p:cNvSpPr>
          <p:nvPr>
            <p:ph type="title"/>
          </p:nvPr>
        </p:nvSpPr>
        <p:spPr/>
        <p:txBody>
          <a:bodyPr/>
          <a:lstStyle/>
          <a:p>
            <a:r>
              <a:rPr lang="ru-RU" dirty="0">
                <a:solidFill>
                  <a:schemeClr val="tx2">
                    <a:lumMod val="75000"/>
                    <a:lumOff val="25000"/>
                  </a:schemeClr>
                </a:solidFill>
              </a:rPr>
              <a:t>Метрики </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5F1A9601-FE20-8818-1243-D68245A59B61}"/>
              </a:ext>
            </a:extLst>
          </p:cNvPr>
          <p:cNvSpPr>
            <a:spLocks noGrp="1"/>
          </p:cNvSpPr>
          <p:nvPr>
            <p:ph type="sldNum" sz="quarter" idx="12"/>
          </p:nvPr>
        </p:nvSpPr>
        <p:spPr/>
        <p:txBody>
          <a:bodyPr/>
          <a:lstStyle/>
          <a:p>
            <a:fld id="{A825137D-5D54-8448-BF1E-32A34E891867}" type="slidenum">
              <a:rPr lang="en-RU" smtClean="0"/>
              <a:t>26</a:t>
            </a:fld>
            <a:endParaRPr lang="en-RU"/>
          </a:p>
        </p:txBody>
      </p:sp>
      <p:pic>
        <p:nvPicPr>
          <p:cNvPr id="5" name="Picture 4">
            <a:extLst>
              <a:ext uri="{FF2B5EF4-FFF2-40B4-BE49-F238E27FC236}">
                <a16:creationId xmlns:a16="http://schemas.microsoft.com/office/drawing/2014/main" id="{AA9807E4-03C8-6AE4-CC15-9920755B3CDC}"/>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3078" name="Picture 6">
            <a:extLst>
              <a:ext uri="{FF2B5EF4-FFF2-40B4-BE49-F238E27FC236}">
                <a16:creationId xmlns:a16="http://schemas.microsoft.com/office/drawing/2014/main" id="{D29487FC-4E6F-22A2-C268-36568D9B4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10274300" cy="4234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8150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358A-097E-FEEF-8069-00AEF6357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04DAA-ECCF-DA57-BA6A-7FEB828E32A9}"/>
              </a:ext>
            </a:extLst>
          </p:cNvPr>
          <p:cNvSpPr>
            <a:spLocks noGrp="1"/>
          </p:cNvSpPr>
          <p:nvPr>
            <p:ph type="title"/>
          </p:nvPr>
        </p:nvSpPr>
        <p:spPr/>
        <p:txBody>
          <a:bodyPr/>
          <a:lstStyle/>
          <a:p>
            <a:r>
              <a:rPr lang="ru-RU" dirty="0">
                <a:solidFill>
                  <a:schemeClr val="tx2">
                    <a:lumMod val="75000"/>
                    <a:lumOff val="25000"/>
                  </a:schemeClr>
                </a:solidFill>
              </a:rPr>
              <a:t>Метрики</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7B7DB76F-990E-193C-4F13-E6C4E031AEB9}"/>
              </a:ext>
            </a:extLst>
          </p:cNvPr>
          <p:cNvSpPr>
            <a:spLocks noGrp="1"/>
          </p:cNvSpPr>
          <p:nvPr>
            <p:ph type="sldNum" sz="quarter" idx="12"/>
          </p:nvPr>
        </p:nvSpPr>
        <p:spPr/>
        <p:txBody>
          <a:bodyPr/>
          <a:lstStyle/>
          <a:p>
            <a:fld id="{A825137D-5D54-8448-BF1E-32A34E891867}" type="slidenum">
              <a:rPr lang="en-RU" smtClean="0"/>
              <a:t>27</a:t>
            </a:fld>
            <a:endParaRPr lang="en-RU"/>
          </a:p>
        </p:txBody>
      </p:sp>
      <p:pic>
        <p:nvPicPr>
          <p:cNvPr id="5" name="Picture 4">
            <a:extLst>
              <a:ext uri="{FF2B5EF4-FFF2-40B4-BE49-F238E27FC236}">
                <a16:creationId xmlns:a16="http://schemas.microsoft.com/office/drawing/2014/main" id="{8E7559A5-35FC-270C-104E-EE46E7641B26}"/>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EEB23D81-7F99-5373-C4B2-1314F40B3E13}"/>
              </a:ext>
            </a:extLst>
          </p:cNvPr>
          <p:cNvPicPr>
            <a:picLocks noChangeAspect="1"/>
          </p:cNvPicPr>
          <p:nvPr/>
        </p:nvPicPr>
        <p:blipFill>
          <a:blip r:embed="rId3"/>
          <a:stretch>
            <a:fillRect/>
          </a:stretch>
        </p:blipFill>
        <p:spPr>
          <a:xfrm>
            <a:off x="446927" y="2319128"/>
            <a:ext cx="5534024" cy="2767012"/>
          </a:xfrm>
          <a:prstGeom prst="rect">
            <a:avLst/>
          </a:prstGeom>
        </p:spPr>
      </p:pic>
      <p:pic>
        <p:nvPicPr>
          <p:cNvPr id="4104" name="Picture 8">
            <a:extLst>
              <a:ext uri="{FF2B5EF4-FFF2-40B4-BE49-F238E27FC236}">
                <a16:creationId xmlns:a16="http://schemas.microsoft.com/office/drawing/2014/main" id="{D4FD23D4-6878-C48F-7888-26A92E7442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6193" y="1461085"/>
            <a:ext cx="5403938" cy="450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016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35D1F-A642-2E13-F2B9-99416E052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F2482-5B91-C22C-E7CF-9D0E9444AA45}"/>
              </a:ext>
            </a:extLst>
          </p:cNvPr>
          <p:cNvSpPr>
            <a:spLocks noGrp="1"/>
          </p:cNvSpPr>
          <p:nvPr>
            <p:ph type="title"/>
          </p:nvPr>
        </p:nvSpPr>
        <p:spPr>
          <a:xfrm>
            <a:off x="838200" y="365125"/>
            <a:ext cx="10515600" cy="1325563"/>
          </a:xfrm>
        </p:spPr>
        <p:txBody>
          <a:bodyPr/>
          <a:lstStyle/>
          <a:p>
            <a:r>
              <a:rPr lang="ru-RU" dirty="0">
                <a:solidFill>
                  <a:schemeClr val="tx2">
                    <a:lumMod val="75000"/>
                    <a:lumOff val="25000"/>
                  </a:schemeClr>
                </a:solidFill>
              </a:rPr>
              <a:t>Примеры классификаций</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680FF09F-CC4C-91FB-5F26-548FC4089E32}"/>
              </a:ext>
            </a:extLst>
          </p:cNvPr>
          <p:cNvSpPr>
            <a:spLocks noGrp="1"/>
          </p:cNvSpPr>
          <p:nvPr>
            <p:ph type="sldNum" sz="quarter" idx="12"/>
          </p:nvPr>
        </p:nvSpPr>
        <p:spPr/>
        <p:txBody>
          <a:bodyPr/>
          <a:lstStyle/>
          <a:p>
            <a:fld id="{A825137D-5D54-8448-BF1E-32A34E891867}" type="slidenum">
              <a:rPr lang="en-RU" smtClean="0"/>
              <a:t>28</a:t>
            </a:fld>
            <a:endParaRPr lang="en-RU"/>
          </a:p>
        </p:txBody>
      </p:sp>
      <p:pic>
        <p:nvPicPr>
          <p:cNvPr id="5" name="Picture 4">
            <a:extLst>
              <a:ext uri="{FF2B5EF4-FFF2-40B4-BE49-F238E27FC236}">
                <a16:creationId xmlns:a16="http://schemas.microsoft.com/office/drawing/2014/main" id="{F6566A09-8757-30BC-E509-17154FACCD3F}"/>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5122" name="Picture 2">
            <a:extLst>
              <a:ext uri="{FF2B5EF4-FFF2-40B4-BE49-F238E27FC236}">
                <a16:creationId xmlns:a16="http://schemas.microsoft.com/office/drawing/2014/main" id="{81A32E42-261F-AD5B-ECAD-BACFE3FEBC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071"/>
          <a:stretch/>
        </p:blipFill>
        <p:spPr bwMode="auto">
          <a:xfrm>
            <a:off x="358237" y="2120901"/>
            <a:ext cx="11478163" cy="3362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955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5C72-FC36-0770-39B7-A2D77A473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113B4-24BD-2A4D-70E9-58AE9C673DD1}"/>
              </a:ext>
            </a:extLst>
          </p:cNvPr>
          <p:cNvSpPr>
            <a:spLocks noGrp="1"/>
          </p:cNvSpPr>
          <p:nvPr>
            <p:ph type="title"/>
          </p:nvPr>
        </p:nvSpPr>
        <p:spPr/>
        <p:txBody>
          <a:bodyPr/>
          <a:lstStyle/>
          <a:p>
            <a:r>
              <a:rPr lang="en-RU" dirty="0">
                <a:solidFill>
                  <a:schemeClr val="tx2">
                    <a:lumMod val="75000"/>
                    <a:lumOff val="25000"/>
                  </a:schemeClr>
                </a:solidFill>
              </a:rPr>
              <a:t>Notebook-3.ipynb</a:t>
            </a:r>
          </a:p>
        </p:txBody>
      </p:sp>
      <p:sp>
        <p:nvSpPr>
          <p:cNvPr id="3" name="Content Placeholder 2">
            <a:extLst>
              <a:ext uri="{FF2B5EF4-FFF2-40B4-BE49-F238E27FC236}">
                <a16:creationId xmlns:a16="http://schemas.microsoft.com/office/drawing/2014/main" id="{BD7C50C3-9318-0C4B-7791-E3AE7F7E9489}"/>
              </a:ext>
            </a:extLst>
          </p:cNvPr>
          <p:cNvSpPr>
            <a:spLocks noGrp="1"/>
          </p:cNvSpPr>
          <p:nvPr>
            <p:ph idx="1"/>
          </p:nvPr>
        </p:nvSpPr>
        <p:spPr/>
        <p:txBody>
          <a:bodyPr>
            <a:normAutofit/>
          </a:bodyPr>
          <a:lstStyle/>
          <a:p>
            <a:pPr marL="0" indent="0">
              <a:buNone/>
            </a:pPr>
            <a:r>
              <a:rPr lang="ru-RU" b="1" dirty="0"/>
              <a:t>Краткое описание: </a:t>
            </a:r>
            <a:r>
              <a:rPr lang="ru-RU" dirty="0"/>
              <a:t>определяем тип кузова автомобиля по его кропу (</a:t>
            </a:r>
            <a:r>
              <a:rPr lang="en-US" dirty="0" err="1"/>
              <a:t>bbox</a:t>
            </a:r>
            <a:r>
              <a:rPr lang="en-US" dirty="0"/>
              <a:t> </a:t>
            </a:r>
            <a:r>
              <a:rPr lang="ru-RU" dirty="0"/>
              <a:t>от </a:t>
            </a:r>
            <a:r>
              <a:rPr lang="en-US" dirty="0"/>
              <a:t>YOLO</a:t>
            </a:r>
            <a:r>
              <a:rPr lang="ru-RU" dirty="0"/>
              <a:t>)</a:t>
            </a:r>
            <a:r>
              <a:rPr lang="en-US" dirty="0"/>
              <a:t> c </a:t>
            </a:r>
            <a:r>
              <a:rPr lang="ru-RU" dirty="0"/>
              <a:t>помощью </a:t>
            </a:r>
            <a:r>
              <a:rPr lang="en-US" dirty="0"/>
              <a:t>ResNet18</a:t>
            </a:r>
            <a:r>
              <a:rPr lang="ru-RU" dirty="0"/>
              <a:t>, сравниваем </a:t>
            </a:r>
            <a:r>
              <a:rPr lang="en-US" dirty="0"/>
              <a:t>ResNet18 </a:t>
            </a:r>
            <a:r>
              <a:rPr lang="ru-RU" dirty="0"/>
              <a:t>с </a:t>
            </a:r>
            <a:r>
              <a:rPr lang="en-US" dirty="0"/>
              <a:t>MobileNetV2</a:t>
            </a:r>
            <a:endParaRPr lang="ru-RU" dirty="0"/>
          </a:p>
          <a:p>
            <a:pPr algn="l">
              <a:spcBef>
                <a:spcPts val="1800"/>
              </a:spcBef>
              <a:spcAft>
                <a:spcPts val="1200"/>
              </a:spcAft>
              <a:buNone/>
            </a:pPr>
            <a:r>
              <a:rPr lang="ru-RU" b="1" dirty="0" err="1"/>
              <a:t>Стэк</a:t>
            </a:r>
            <a:r>
              <a:rPr lang="ru-RU" b="1" dirty="0"/>
              <a:t>:</a:t>
            </a:r>
          </a:p>
          <a:p>
            <a:pPr algn="l">
              <a:buFont typeface="Arial" panose="020B0604020202020204" pitchFamily="34" charset="0"/>
              <a:buChar char="•"/>
            </a:pPr>
            <a:r>
              <a:rPr lang="en-GB" dirty="0"/>
              <a:t>ResNet18 </a:t>
            </a:r>
            <a:r>
              <a:rPr lang="ru-RU" dirty="0"/>
              <a:t>и </a:t>
            </a:r>
            <a:r>
              <a:rPr lang="en-GB" dirty="0"/>
              <a:t>MobileNetV2 (</a:t>
            </a:r>
            <a:r>
              <a:rPr lang="en-GB" dirty="0" err="1"/>
              <a:t>torchvision</a:t>
            </a:r>
            <a:r>
              <a:rPr lang="en-GB" dirty="0"/>
              <a:t>, ImageNet pretrained)</a:t>
            </a:r>
          </a:p>
          <a:p>
            <a:pPr algn="l">
              <a:buFont typeface="Arial" panose="020B0604020202020204" pitchFamily="34" charset="0"/>
              <a:buChar char="•"/>
            </a:pPr>
            <a:r>
              <a:rPr lang="en-GB" dirty="0" err="1"/>
              <a:t>PyTorch</a:t>
            </a:r>
            <a:r>
              <a:rPr lang="en-GB" dirty="0"/>
              <a:t> — </a:t>
            </a:r>
            <a:r>
              <a:rPr lang="ru-RU" dirty="0"/>
              <a:t>обучение, </a:t>
            </a:r>
            <a:r>
              <a:rPr lang="en-GB" dirty="0"/>
              <a:t>2</a:t>
            </a:r>
            <a:r>
              <a:rPr lang="ru-RU" dirty="0"/>
              <a:t>ух фазовый</a:t>
            </a:r>
            <a:r>
              <a:rPr lang="en-GB" dirty="0"/>
              <a:t> fine-tuning</a:t>
            </a:r>
          </a:p>
          <a:p>
            <a:pPr algn="l">
              <a:buFont typeface="Arial" panose="020B0604020202020204" pitchFamily="34" charset="0"/>
              <a:buChar char="•"/>
            </a:pPr>
            <a:r>
              <a:rPr lang="en-GB" dirty="0"/>
              <a:t>scikit-learn — top-k accuracy, </a:t>
            </a:r>
            <a:r>
              <a:rPr lang="ru-RU" dirty="0"/>
              <a:t>матрица ошибок</a:t>
            </a:r>
          </a:p>
          <a:p>
            <a:pPr algn="l">
              <a:buFont typeface="Arial" panose="020B0604020202020204" pitchFamily="34" charset="0"/>
              <a:buChar char="•"/>
            </a:pPr>
            <a:r>
              <a:rPr lang="en-GB" dirty="0"/>
              <a:t>seaborn / matplotlib — </a:t>
            </a:r>
            <a:r>
              <a:rPr lang="ru-RU" dirty="0"/>
              <a:t>визуализация</a:t>
            </a:r>
          </a:p>
        </p:txBody>
      </p:sp>
      <p:sp>
        <p:nvSpPr>
          <p:cNvPr id="4" name="Slide Number Placeholder 3">
            <a:extLst>
              <a:ext uri="{FF2B5EF4-FFF2-40B4-BE49-F238E27FC236}">
                <a16:creationId xmlns:a16="http://schemas.microsoft.com/office/drawing/2014/main" id="{8D105A42-FCEB-A3AC-AAF2-C6134FA1300A}"/>
              </a:ext>
            </a:extLst>
          </p:cNvPr>
          <p:cNvSpPr>
            <a:spLocks noGrp="1"/>
          </p:cNvSpPr>
          <p:nvPr>
            <p:ph type="sldNum" sz="quarter" idx="12"/>
          </p:nvPr>
        </p:nvSpPr>
        <p:spPr/>
        <p:txBody>
          <a:bodyPr/>
          <a:lstStyle/>
          <a:p>
            <a:fld id="{A825137D-5D54-8448-BF1E-32A34E891867}" type="slidenum">
              <a:rPr lang="en-RU" smtClean="0"/>
              <a:t>29</a:t>
            </a:fld>
            <a:endParaRPr lang="en-RU"/>
          </a:p>
        </p:txBody>
      </p:sp>
      <p:pic>
        <p:nvPicPr>
          <p:cNvPr id="5" name="Picture 4">
            <a:extLst>
              <a:ext uri="{FF2B5EF4-FFF2-40B4-BE49-F238E27FC236}">
                <a16:creationId xmlns:a16="http://schemas.microsoft.com/office/drawing/2014/main" id="{5AF667E6-28C6-BD24-2167-B1FAC2ED7680}"/>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763886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B77B-777E-C13C-DF4B-62B6B4D34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F3D79-076B-8E7C-3250-45D02A29CDBE}"/>
              </a:ext>
            </a:extLst>
          </p:cNvPr>
          <p:cNvSpPr>
            <a:spLocks noGrp="1"/>
          </p:cNvSpPr>
          <p:nvPr>
            <p:ph type="title"/>
          </p:nvPr>
        </p:nvSpPr>
        <p:spPr/>
        <p:txBody>
          <a:bodyPr/>
          <a:lstStyle/>
          <a:p>
            <a:r>
              <a:rPr lang="ru-RU" dirty="0">
                <a:solidFill>
                  <a:schemeClr val="tx2">
                    <a:lumMod val="75000"/>
                    <a:lumOff val="25000"/>
                  </a:schemeClr>
                </a:solidFill>
              </a:rPr>
              <a:t>Классификация типа кузова ТС</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93339C5D-8D0F-1820-3005-7E36CA739BD4}"/>
              </a:ext>
            </a:extLst>
          </p:cNvPr>
          <p:cNvSpPr>
            <a:spLocks noGrp="1"/>
          </p:cNvSpPr>
          <p:nvPr>
            <p:ph idx="1"/>
          </p:nvPr>
        </p:nvSpPr>
        <p:spPr>
          <a:xfrm>
            <a:off x="838201" y="1825625"/>
            <a:ext cx="5386330" cy="4351338"/>
          </a:xfrm>
        </p:spPr>
        <p:txBody>
          <a:bodyPr/>
          <a:lstStyle/>
          <a:p>
            <a:pPr marL="0" indent="0">
              <a:buNone/>
            </a:pPr>
            <a:r>
              <a:rPr lang="ru-RU" b="1" dirty="0"/>
              <a:t>Датасет: </a:t>
            </a:r>
            <a:r>
              <a:rPr lang="en-US" dirty="0" err="1"/>
              <a:t>CompCars</a:t>
            </a:r>
            <a:r>
              <a:rPr lang="en-US" dirty="0"/>
              <a:t> body-type annotations – </a:t>
            </a:r>
            <a:r>
              <a:rPr lang="ru-RU" dirty="0"/>
              <a:t>используем 6000 объектов. Балансируем датасет для классов: по 850 объектов каждого класса в выборке.</a:t>
            </a:r>
            <a:endParaRPr lang="en-RU" b="1" dirty="0"/>
          </a:p>
        </p:txBody>
      </p:sp>
      <p:sp>
        <p:nvSpPr>
          <p:cNvPr id="4" name="Slide Number Placeholder 3">
            <a:extLst>
              <a:ext uri="{FF2B5EF4-FFF2-40B4-BE49-F238E27FC236}">
                <a16:creationId xmlns:a16="http://schemas.microsoft.com/office/drawing/2014/main" id="{951ABDBE-A6A2-668E-400D-DF8088FF02C6}"/>
              </a:ext>
            </a:extLst>
          </p:cNvPr>
          <p:cNvSpPr>
            <a:spLocks noGrp="1"/>
          </p:cNvSpPr>
          <p:nvPr>
            <p:ph type="sldNum" sz="quarter" idx="12"/>
          </p:nvPr>
        </p:nvSpPr>
        <p:spPr/>
        <p:txBody>
          <a:bodyPr/>
          <a:lstStyle/>
          <a:p>
            <a:fld id="{A825137D-5D54-8448-BF1E-32A34E891867}" type="slidenum">
              <a:rPr lang="en-RU" smtClean="0"/>
              <a:t>30</a:t>
            </a:fld>
            <a:endParaRPr lang="en-RU"/>
          </a:p>
        </p:txBody>
      </p:sp>
      <p:pic>
        <p:nvPicPr>
          <p:cNvPr id="5" name="Picture 4">
            <a:extLst>
              <a:ext uri="{FF2B5EF4-FFF2-40B4-BE49-F238E27FC236}">
                <a16:creationId xmlns:a16="http://schemas.microsoft.com/office/drawing/2014/main" id="{BE620DF6-147E-2947-6626-2C03D365A011}"/>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 name="Picture 5">
            <a:extLst>
              <a:ext uri="{FF2B5EF4-FFF2-40B4-BE49-F238E27FC236}">
                <a16:creationId xmlns:a16="http://schemas.microsoft.com/office/drawing/2014/main" id="{2D348A59-474B-D08A-7093-F7123981E990}"/>
              </a:ext>
            </a:extLst>
          </p:cNvPr>
          <p:cNvPicPr>
            <a:picLocks noChangeAspect="1"/>
          </p:cNvPicPr>
          <p:nvPr/>
        </p:nvPicPr>
        <p:blipFill>
          <a:blip r:embed="rId3"/>
          <a:stretch>
            <a:fillRect/>
          </a:stretch>
        </p:blipFill>
        <p:spPr>
          <a:xfrm>
            <a:off x="6345717" y="1825625"/>
            <a:ext cx="5480607" cy="4079416"/>
          </a:xfrm>
          <a:prstGeom prst="rect">
            <a:avLst/>
          </a:prstGeom>
        </p:spPr>
      </p:pic>
      <p:pic>
        <p:nvPicPr>
          <p:cNvPr id="25602" name="Picture 2">
            <a:extLst>
              <a:ext uri="{FF2B5EF4-FFF2-40B4-BE49-F238E27FC236}">
                <a16:creationId xmlns:a16="http://schemas.microsoft.com/office/drawing/2014/main" id="{9EA18783-19BF-D72F-9FA6-5DAD803786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36" r="50000" b="6653"/>
          <a:stretch/>
        </p:blipFill>
        <p:spPr bwMode="auto">
          <a:xfrm>
            <a:off x="1132850" y="3974035"/>
            <a:ext cx="4064306" cy="2388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4475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86952-505C-CC31-490B-4BD8DD18B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6416B-4E95-29C2-491C-D9C0516B8380}"/>
              </a:ext>
            </a:extLst>
          </p:cNvPr>
          <p:cNvSpPr>
            <a:spLocks noGrp="1"/>
          </p:cNvSpPr>
          <p:nvPr>
            <p:ph type="title"/>
          </p:nvPr>
        </p:nvSpPr>
        <p:spPr/>
        <p:txBody>
          <a:bodyPr/>
          <a:lstStyle/>
          <a:p>
            <a:r>
              <a:rPr lang="ru-RU" dirty="0">
                <a:solidFill>
                  <a:schemeClr val="tx2">
                    <a:lumMod val="75000"/>
                    <a:lumOff val="25000"/>
                  </a:schemeClr>
                </a:solidFill>
              </a:rPr>
              <a:t>Метод обучения </a:t>
            </a:r>
            <a:r>
              <a:rPr lang="en-US" dirty="0">
                <a:solidFill>
                  <a:schemeClr val="tx2">
                    <a:lumMod val="75000"/>
                    <a:lumOff val="25000"/>
                  </a:schemeClr>
                </a:solidFill>
              </a:rPr>
              <a:t>ResNet18</a:t>
            </a:r>
            <a:endParaRPr lang="en-RU" dirty="0">
              <a:solidFill>
                <a:schemeClr val="tx2">
                  <a:lumMod val="75000"/>
                  <a:lumOff val="25000"/>
                </a:schemeClr>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C24492-70C6-715E-DB50-4A1CE46A135F}"/>
                  </a:ext>
                </a:extLst>
              </p:cNvPr>
              <p:cNvSpPr>
                <a:spLocks noGrp="1"/>
              </p:cNvSpPr>
              <p:nvPr>
                <p:ph idx="1"/>
              </p:nvPr>
            </p:nvSpPr>
            <p:spPr>
              <a:xfrm>
                <a:off x="838200" y="1825625"/>
                <a:ext cx="11170186" cy="4351338"/>
              </a:xfrm>
            </p:spPr>
            <p:txBody>
              <a:bodyPr/>
              <a:lstStyle/>
              <a:p>
                <a:pPr marL="0" indent="0">
                  <a:buNone/>
                </a:pPr>
                <a:r>
                  <a:rPr lang="ru-RU" dirty="0"/>
                  <a:t>Двухфазное обучение: </a:t>
                </a:r>
              </a:p>
              <a:p>
                <a:pPr marL="0" indent="0">
                  <a:buNone/>
                </a:pPr>
                <a:r>
                  <a:rPr lang="ru-RU" b="1" dirty="0"/>
                  <a:t>Фаза 1 (эпохи 1–5): </a:t>
                </a:r>
                <a:r>
                  <a:rPr lang="en-GB" dirty="0"/>
                  <a:t>backbone </a:t>
                </a:r>
                <a:r>
                  <a:rPr lang="ru-RU" dirty="0"/>
                  <a:t>заморожен, только </a:t>
                </a:r>
                <a:r>
                  <a:rPr lang="en-GB" dirty="0"/>
                  <a:t>fc. Adam, </a:t>
                </a:r>
                <a14:m>
                  <m:oMath xmlns:m="http://schemas.openxmlformats.org/officeDocument/2006/math">
                    <m:r>
                      <a:rPr lang="en-GB" i="1" dirty="0">
                        <a:latin typeface="Cambria Math" panose="02040503050406030204" pitchFamily="18" charset="0"/>
                      </a:rPr>
                      <m:t>𝑙𝑟</m:t>
                    </m:r>
                  </m:oMath>
                </a14:m>
                <a:r>
                  <a:rPr lang="ru-RU" dirty="0"/>
                  <a:t> </a:t>
                </a:r>
                <a:r>
                  <a:rPr lang="en-GB" dirty="0"/>
                  <a:t>=</a:t>
                </a:r>
                <a:r>
                  <a:rPr lang="ru-RU" dirty="0"/>
                  <a:t> </a:t>
                </a:r>
                <a:r>
                  <a:rPr lang="en-GB" dirty="0"/>
                  <a:t>10⁻³</a:t>
                </a:r>
                <a:endParaRPr lang="ru-RU" dirty="0"/>
              </a:p>
              <a:p>
                <a:pPr marL="0" indent="0">
                  <a:buNone/>
                </a:pPr>
                <a:r>
                  <a:rPr lang="ru-RU" b="1" dirty="0"/>
                  <a:t>Фаза 2 (эпохи 6–30): </a:t>
                </a:r>
                <a:r>
                  <a:rPr lang="en-GB" dirty="0"/>
                  <a:t>layer3 + layer4 + fc </a:t>
                </a:r>
                <a:r>
                  <a:rPr lang="ru-RU" dirty="0"/>
                  <a:t>разморожены, </a:t>
                </a:r>
                <a14:m>
                  <m:oMath xmlns:m="http://schemas.openxmlformats.org/officeDocument/2006/math">
                    <m:r>
                      <a:rPr lang="en-GB" i="1" dirty="0">
                        <a:latin typeface="Cambria Math" panose="02040503050406030204" pitchFamily="18" charset="0"/>
                      </a:rPr>
                      <m:t>𝑙𝑟</m:t>
                    </m:r>
                  </m:oMath>
                </a14:m>
                <a:r>
                  <a:rPr lang="ru-RU" dirty="0"/>
                  <a:t> </a:t>
                </a:r>
                <a:r>
                  <a:rPr lang="en-GB" dirty="0"/>
                  <a:t>=</a:t>
                </a:r>
                <a:r>
                  <a:rPr lang="ru-RU" dirty="0"/>
                  <a:t> </a:t>
                </a:r>
                <a:r>
                  <a:rPr lang="en-GB" dirty="0"/>
                  <a:t>5</a:t>
                </a:r>
                <a:r>
                  <a:rPr lang="ru-RU" dirty="0"/>
                  <a:t>*</a:t>
                </a:r>
                <a:r>
                  <a:rPr lang="en-GB" dirty="0"/>
                  <a:t>10⁻⁵</a:t>
                </a:r>
                <a:endParaRPr lang="ru-RU" dirty="0"/>
              </a:p>
              <a:p>
                <a:pPr marL="0" indent="0">
                  <a:buNone/>
                </a:pPr>
                <a:r>
                  <a:rPr lang="ru-RU" dirty="0"/>
                  <a:t>Используем </a:t>
                </a:r>
                <a:r>
                  <a:rPr lang="en-US" dirty="0"/>
                  <a:t>dropout </a:t>
                </a:r>
                <a:r>
                  <a:rPr lang="ru-RU" dirty="0"/>
                  <a:t>и </a:t>
                </a:r>
                <a:r>
                  <a:rPr lang="en-US" dirty="0"/>
                  <a:t>weight decay</a:t>
                </a:r>
                <a:endParaRPr lang="en-GB" dirty="0"/>
              </a:p>
            </p:txBody>
          </p:sp>
        </mc:Choice>
        <mc:Fallback xmlns="">
          <p:sp>
            <p:nvSpPr>
              <p:cNvPr id="3" name="Content Placeholder 2">
                <a:extLst>
                  <a:ext uri="{FF2B5EF4-FFF2-40B4-BE49-F238E27FC236}">
                    <a16:creationId xmlns:a16="http://schemas.microsoft.com/office/drawing/2014/main" id="{C9C24492-70C6-715E-DB50-4A1CE46A135F}"/>
                  </a:ext>
                </a:extLst>
              </p:cNvPr>
              <p:cNvSpPr>
                <a:spLocks noGrp="1" noRot="1" noChangeAspect="1" noMove="1" noResize="1" noEditPoints="1" noAdjustHandles="1" noChangeArrowheads="1" noChangeShapeType="1" noTextEdit="1"/>
              </p:cNvSpPr>
              <p:nvPr>
                <p:ph idx="1"/>
              </p:nvPr>
            </p:nvSpPr>
            <p:spPr>
              <a:xfrm>
                <a:off x="838200" y="1825625"/>
                <a:ext cx="11170186" cy="4351338"/>
              </a:xfrm>
              <a:blipFill>
                <a:blip r:embed="rId2"/>
                <a:stretch>
                  <a:fillRect l="-1136" t="-2326"/>
                </a:stretch>
              </a:blipFill>
            </p:spPr>
            <p:txBody>
              <a:bodyPr/>
              <a:lstStyle/>
              <a:p>
                <a:r>
                  <a:rPr lang="en-RU">
                    <a:noFill/>
                  </a:rPr>
                  <a:t> </a:t>
                </a:r>
              </a:p>
            </p:txBody>
          </p:sp>
        </mc:Fallback>
      </mc:AlternateContent>
      <p:sp>
        <p:nvSpPr>
          <p:cNvPr id="4" name="Slide Number Placeholder 3">
            <a:extLst>
              <a:ext uri="{FF2B5EF4-FFF2-40B4-BE49-F238E27FC236}">
                <a16:creationId xmlns:a16="http://schemas.microsoft.com/office/drawing/2014/main" id="{F32871D5-EF86-7176-4244-DC97CA6D6691}"/>
              </a:ext>
            </a:extLst>
          </p:cNvPr>
          <p:cNvSpPr>
            <a:spLocks noGrp="1"/>
          </p:cNvSpPr>
          <p:nvPr>
            <p:ph type="sldNum" sz="quarter" idx="12"/>
          </p:nvPr>
        </p:nvSpPr>
        <p:spPr/>
        <p:txBody>
          <a:bodyPr/>
          <a:lstStyle/>
          <a:p>
            <a:fld id="{A825137D-5D54-8448-BF1E-32A34E891867}" type="slidenum">
              <a:rPr lang="en-RU" smtClean="0"/>
              <a:t>31</a:t>
            </a:fld>
            <a:endParaRPr lang="en-RU"/>
          </a:p>
        </p:txBody>
      </p:sp>
      <p:pic>
        <p:nvPicPr>
          <p:cNvPr id="5" name="Picture 4">
            <a:extLst>
              <a:ext uri="{FF2B5EF4-FFF2-40B4-BE49-F238E27FC236}">
                <a16:creationId xmlns:a16="http://schemas.microsoft.com/office/drawing/2014/main" id="{05FFA8B8-76A0-098B-E65A-2FED2496B44A}"/>
              </a:ext>
            </a:extLst>
          </p:cNvPr>
          <p:cNvPicPr>
            <a:picLocks noChangeAspect="1"/>
          </p:cNvPicPr>
          <p:nvPr/>
        </p:nvPicPr>
        <p:blipFill>
          <a:blip r:embed="rId3"/>
          <a:stretch>
            <a:fillRect/>
          </a:stretch>
        </p:blipFill>
        <p:spPr>
          <a:xfrm>
            <a:off x="5318342" y="6197181"/>
            <a:ext cx="1555315" cy="561469"/>
          </a:xfrm>
          <a:prstGeom prst="rect">
            <a:avLst/>
          </a:prstGeom>
        </p:spPr>
      </p:pic>
      <p:pic>
        <p:nvPicPr>
          <p:cNvPr id="26626" name="Picture 2">
            <a:extLst>
              <a:ext uri="{FF2B5EF4-FFF2-40B4-BE49-F238E27FC236}">
                <a16:creationId xmlns:a16="http://schemas.microsoft.com/office/drawing/2014/main" id="{9F5265DA-91B4-3960-D124-37D6F70190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516"/>
          <a:stretch/>
        </p:blipFill>
        <p:spPr bwMode="auto">
          <a:xfrm>
            <a:off x="2220698" y="3866920"/>
            <a:ext cx="7750602" cy="231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248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300B6-ED46-6F55-03A1-406DE8BB3E9E}"/>
              </a:ext>
            </a:extLst>
          </p:cNvPr>
          <p:cNvSpPr>
            <a:spLocks noGrp="1"/>
          </p:cNvSpPr>
          <p:nvPr>
            <p:ph type="title"/>
          </p:nvPr>
        </p:nvSpPr>
        <p:spPr/>
        <p:txBody>
          <a:bodyPr/>
          <a:lstStyle/>
          <a:p>
            <a:r>
              <a:rPr lang="ru-RU" dirty="0">
                <a:solidFill>
                  <a:schemeClr val="tx2">
                    <a:lumMod val="75000"/>
                    <a:lumOff val="25000"/>
                  </a:schemeClr>
                </a:solidFill>
              </a:rPr>
              <a:t>Метрики</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9BF34AC4-FA99-614C-91D5-6761033ECEA7}"/>
              </a:ext>
            </a:extLst>
          </p:cNvPr>
          <p:cNvSpPr>
            <a:spLocks noGrp="1"/>
          </p:cNvSpPr>
          <p:nvPr>
            <p:ph idx="1"/>
          </p:nvPr>
        </p:nvSpPr>
        <p:spPr>
          <a:xfrm>
            <a:off x="838200" y="1825625"/>
            <a:ext cx="4895161" cy="4351338"/>
          </a:xfrm>
        </p:spPr>
        <p:txBody>
          <a:bodyPr/>
          <a:lstStyle/>
          <a:p>
            <a:pPr marL="0" indent="0">
              <a:buNone/>
            </a:pPr>
            <a:r>
              <a:rPr lang="ru-RU" dirty="0"/>
              <a:t>Слабейшие метрики – по седану, он часто путается по визуалу с </a:t>
            </a:r>
            <a:r>
              <a:rPr lang="ru-RU" dirty="0" err="1"/>
              <a:t>хэчбеком</a:t>
            </a:r>
            <a:endParaRPr lang="en-RU" dirty="0"/>
          </a:p>
        </p:txBody>
      </p:sp>
      <p:sp>
        <p:nvSpPr>
          <p:cNvPr id="4" name="Slide Number Placeholder 3">
            <a:extLst>
              <a:ext uri="{FF2B5EF4-FFF2-40B4-BE49-F238E27FC236}">
                <a16:creationId xmlns:a16="http://schemas.microsoft.com/office/drawing/2014/main" id="{183D9344-77F6-0298-201E-7BEB038C2DAA}"/>
              </a:ext>
            </a:extLst>
          </p:cNvPr>
          <p:cNvSpPr>
            <a:spLocks noGrp="1"/>
          </p:cNvSpPr>
          <p:nvPr>
            <p:ph type="sldNum" sz="quarter" idx="12"/>
          </p:nvPr>
        </p:nvSpPr>
        <p:spPr/>
        <p:txBody>
          <a:bodyPr/>
          <a:lstStyle/>
          <a:p>
            <a:fld id="{A825137D-5D54-8448-BF1E-32A34E891867}" type="slidenum">
              <a:rPr lang="en-RU" smtClean="0"/>
              <a:t>32</a:t>
            </a:fld>
            <a:endParaRPr lang="en-RU"/>
          </a:p>
        </p:txBody>
      </p:sp>
      <p:pic>
        <p:nvPicPr>
          <p:cNvPr id="5" name="Picture 4">
            <a:extLst>
              <a:ext uri="{FF2B5EF4-FFF2-40B4-BE49-F238E27FC236}">
                <a16:creationId xmlns:a16="http://schemas.microsoft.com/office/drawing/2014/main" id="{DEEDF50C-F501-9E08-49AF-195A1EB829E3}"/>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6150" name="Picture 6">
            <a:extLst>
              <a:ext uri="{FF2B5EF4-FFF2-40B4-BE49-F238E27FC236}">
                <a16:creationId xmlns:a16="http://schemas.microsoft.com/office/drawing/2014/main" id="{3DC4365E-D5AB-630B-B7EB-BE1CA19A5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319" y="886858"/>
            <a:ext cx="5618603" cy="508428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493F7E8-988F-E6B8-FC58-C0AF44C7CE52}"/>
              </a:ext>
            </a:extLst>
          </p:cNvPr>
          <p:cNvPicPr>
            <a:picLocks noChangeAspect="1"/>
          </p:cNvPicPr>
          <p:nvPr/>
        </p:nvPicPr>
        <p:blipFill>
          <a:blip r:embed="rId4"/>
          <a:stretch>
            <a:fillRect/>
          </a:stretch>
        </p:blipFill>
        <p:spPr>
          <a:xfrm>
            <a:off x="742643" y="3507571"/>
            <a:ext cx="4711700" cy="2222500"/>
          </a:xfrm>
          <a:prstGeom prst="rect">
            <a:avLst/>
          </a:prstGeom>
        </p:spPr>
      </p:pic>
    </p:spTree>
    <p:extLst>
      <p:ext uri="{BB962C8B-B14F-4D97-AF65-F5344CB8AC3E}">
        <p14:creationId xmlns:p14="http://schemas.microsoft.com/office/powerpoint/2010/main" val="3185525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B8FF-0B31-D389-C7A2-0DEA8D633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6EF5-51C6-91CE-24CC-08751B2A01A9}"/>
              </a:ext>
            </a:extLst>
          </p:cNvPr>
          <p:cNvSpPr>
            <a:spLocks noGrp="1"/>
          </p:cNvSpPr>
          <p:nvPr>
            <p:ph type="title"/>
          </p:nvPr>
        </p:nvSpPr>
        <p:spPr/>
        <p:txBody>
          <a:bodyPr/>
          <a:lstStyle/>
          <a:p>
            <a:r>
              <a:rPr lang="en-US" dirty="0">
                <a:solidFill>
                  <a:schemeClr val="tx2">
                    <a:lumMod val="75000"/>
                    <a:lumOff val="25000"/>
                  </a:schemeClr>
                </a:solidFill>
              </a:rPr>
              <a:t>Notebook-4.ipynb</a:t>
            </a:r>
            <a:endParaRPr lang="en-RU"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6BDFBC16-4D86-B75B-A9BC-C5FEB6242E31}"/>
              </a:ext>
            </a:extLst>
          </p:cNvPr>
          <p:cNvSpPr>
            <a:spLocks noGrp="1"/>
          </p:cNvSpPr>
          <p:nvPr>
            <p:ph idx="1"/>
          </p:nvPr>
        </p:nvSpPr>
        <p:spPr/>
        <p:txBody>
          <a:bodyPr>
            <a:normAutofit fontScale="92500" lnSpcReduction="20000"/>
          </a:bodyPr>
          <a:lstStyle/>
          <a:p>
            <a:pPr marL="0" indent="0">
              <a:buNone/>
            </a:pPr>
            <a:r>
              <a:rPr lang="ru-RU" b="1" dirty="0"/>
              <a:t>Краткое описание: </a:t>
            </a:r>
            <a:r>
              <a:rPr lang="ru-RU" dirty="0"/>
              <a:t>объединяем все обученные модели с предыдущих ноутбуков в единый </a:t>
            </a:r>
            <a:r>
              <a:rPr lang="ru-RU" dirty="0" err="1"/>
              <a:t>пайплайн</a:t>
            </a:r>
            <a:r>
              <a:rPr lang="ru-RU" dirty="0"/>
              <a:t> и смотрим метрики </a:t>
            </a:r>
            <a:r>
              <a:rPr lang="ru-RU" dirty="0" err="1"/>
              <a:t>инференса</a:t>
            </a:r>
            <a:r>
              <a:rPr lang="ru-RU" dirty="0"/>
              <a:t> видео.</a:t>
            </a:r>
          </a:p>
          <a:p>
            <a:pPr algn="l">
              <a:spcBef>
                <a:spcPts val="1800"/>
              </a:spcBef>
              <a:spcAft>
                <a:spcPts val="1200"/>
              </a:spcAft>
              <a:buNone/>
            </a:pPr>
            <a:r>
              <a:rPr lang="ru-RU" b="1" dirty="0" err="1"/>
              <a:t>Стэк</a:t>
            </a:r>
            <a:r>
              <a:rPr lang="ru-RU" b="1" dirty="0"/>
              <a:t>:</a:t>
            </a:r>
          </a:p>
          <a:p>
            <a:pPr algn="l">
              <a:buFont typeface="Arial" panose="020B0604020202020204" pitchFamily="34" charset="0"/>
              <a:buChar char="•"/>
            </a:pPr>
            <a:r>
              <a:rPr lang="en-GB" dirty="0"/>
              <a:t>YOLOv8n (COCO pretrained) </a:t>
            </a:r>
            <a:r>
              <a:rPr lang="ru-RU" dirty="0"/>
              <a:t>–</a:t>
            </a:r>
            <a:r>
              <a:rPr lang="en-GB" dirty="0"/>
              <a:t> </a:t>
            </a:r>
            <a:r>
              <a:rPr lang="ru-RU" dirty="0"/>
              <a:t>детекция ТС (1ый ноутбук)</a:t>
            </a:r>
          </a:p>
          <a:p>
            <a:pPr algn="l">
              <a:buFont typeface="Arial" panose="020B0604020202020204" pitchFamily="34" charset="0"/>
              <a:buChar char="•"/>
            </a:pPr>
            <a:r>
              <a:rPr lang="en-GB" dirty="0"/>
              <a:t>YOLOv8n fine-tuned </a:t>
            </a:r>
            <a:r>
              <a:rPr lang="ru-RU" dirty="0"/>
              <a:t>–</a:t>
            </a:r>
            <a:r>
              <a:rPr lang="en-GB" dirty="0"/>
              <a:t> </a:t>
            </a:r>
            <a:r>
              <a:rPr lang="ru-RU" dirty="0"/>
              <a:t>детекция номеров по кропу ТС (1ый ноутбук)</a:t>
            </a:r>
          </a:p>
          <a:p>
            <a:pPr algn="l">
              <a:buFont typeface="Arial" panose="020B0604020202020204" pitchFamily="34" charset="0"/>
              <a:buChar char="•"/>
            </a:pPr>
            <a:r>
              <a:rPr lang="en-GB" dirty="0"/>
              <a:t>ResNet18  </a:t>
            </a:r>
            <a:r>
              <a:rPr lang="ru-RU" dirty="0"/>
              <a:t>–</a:t>
            </a:r>
            <a:r>
              <a:rPr lang="en-GB" dirty="0"/>
              <a:t> </a:t>
            </a:r>
            <a:r>
              <a:rPr lang="ru-RU" dirty="0"/>
              <a:t>цвет и тип кузова (2ой и 3ий ноутбук)</a:t>
            </a:r>
          </a:p>
          <a:p>
            <a:pPr algn="l">
              <a:buFont typeface="Arial" panose="020B0604020202020204" pitchFamily="34" charset="0"/>
              <a:buChar char="•"/>
            </a:pPr>
            <a:r>
              <a:rPr lang="en-GB" dirty="0" err="1"/>
              <a:t>EasyOCR</a:t>
            </a:r>
            <a:r>
              <a:rPr lang="en-GB" dirty="0"/>
              <a:t> </a:t>
            </a:r>
            <a:r>
              <a:rPr lang="ru-RU" dirty="0"/>
              <a:t> –</a:t>
            </a:r>
            <a:r>
              <a:rPr lang="en-GB" dirty="0"/>
              <a:t> </a:t>
            </a:r>
            <a:r>
              <a:rPr lang="ru-RU" dirty="0"/>
              <a:t>распознавание текста номерного знака (1ый ноутбук)</a:t>
            </a:r>
          </a:p>
          <a:p>
            <a:pPr algn="l">
              <a:buFont typeface="Arial" panose="020B0604020202020204" pitchFamily="34" charset="0"/>
              <a:buChar char="•"/>
            </a:pPr>
            <a:r>
              <a:rPr lang="en-GB" dirty="0"/>
              <a:t>OpenCV </a:t>
            </a:r>
            <a:r>
              <a:rPr lang="ru-RU" dirty="0"/>
              <a:t> –</a:t>
            </a:r>
            <a:r>
              <a:rPr lang="en-GB" dirty="0"/>
              <a:t> </a:t>
            </a:r>
            <a:r>
              <a:rPr lang="ru-RU" dirty="0"/>
              <a:t>чтение/запись видео, аннотирование кадров</a:t>
            </a:r>
          </a:p>
          <a:p>
            <a:pPr algn="l">
              <a:buFont typeface="Arial" panose="020B0604020202020204" pitchFamily="34" charset="0"/>
              <a:buChar char="•"/>
            </a:pPr>
            <a:r>
              <a:rPr lang="en-GB" dirty="0" err="1"/>
              <a:t>TensorBoard</a:t>
            </a:r>
            <a:r>
              <a:rPr lang="en-GB" dirty="0"/>
              <a:t> </a:t>
            </a:r>
            <a:r>
              <a:rPr lang="ru-RU" dirty="0"/>
              <a:t> –</a:t>
            </a:r>
            <a:r>
              <a:rPr lang="en-GB" dirty="0"/>
              <a:t> </a:t>
            </a:r>
            <a:r>
              <a:rPr lang="ru-RU" dirty="0"/>
              <a:t>логирование детекций по кадрам</a:t>
            </a:r>
          </a:p>
        </p:txBody>
      </p:sp>
      <p:sp>
        <p:nvSpPr>
          <p:cNvPr id="4" name="Slide Number Placeholder 3">
            <a:extLst>
              <a:ext uri="{FF2B5EF4-FFF2-40B4-BE49-F238E27FC236}">
                <a16:creationId xmlns:a16="http://schemas.microsoft.com/office/drawing/2014/main" id="{F9D0BC05-B8AA-BFBC-AC6B-FBEFA287A449}"/>
              </a:ext>
            </a:extLst>
          </p:cNvPr>
          <p:cNvSpPr>
            <a:spLocks noGrp="1"/>
          </p:cNvSpPr>
          <p:nvPr>
            <p:ph type="sldNum" sz="quarter" idx="12"/>
          </p:nvPr>
        </p:nvSpPr>
        <p:spPr/>
        <p:txBody>
          <a:bodyPr/>
          <a:lstStyle/>
          <a:p>
            <a:fld id="{A825137D-5D54-8448-BF1E-32A34E891867}" type="slidenum">
              <a:rPr lang="en-RU" smtClean="0"/>
              <a:t>33</a:t>
            </a:fld>
            <a:endParaRPr lang="en-RU"/>
          </a:p>
        </p:txBody>
      </p:sp>
      <p:pic>
        <p:nvPicPr>
          <p:cNvPr id="5" name="Picture 4">
            <a:extLst>
              <a:ext uri="{FF2B5EF4-FFF2-40B4-BE49-F238E27FC236}">
                <a16:creationId xmlns:a16="http://schemas.microsoft.com/office/drawing/2014/main" id="{F5B92536-1568-264E-5878-0062FB0EB0F8}"/>
              </a:ext>
            </a:extLst>
          </p:cNvPr>
          <p:cNvPicPr>
            <a:picLocks noChangeAspect="1"/>
          </p:cNvPicPr>
          <p:nvPr/>
        </p:nvPicPr>
        <p:blipFill>
          <a:blip r:embed="rId2"/>
          <a:stretch>
            <a:fillRect/>
          </a:stretch>
        </p:blipFill>
        <p:spPr>
          <a:xfrm>
            <a:off x="5318342" y="6197181"/>
            <a:ext cx="1555315" cy="561469"/>
          </a:xfrm>
          <a:prstGeom prst="rect">
            <a:avLst/>
          </a:prstGeom>
        </p:spPr>
      </p:pic>
    </p:spTree>
    <p:extLst>
      <p:ext uri="{BB962C8B-B14F-4D97-AF65-F5344CB8AC3E}">
        <p14:creationId xmlns:p14="http://schemas.microsoft.com/office/powerpoint/2010/main" val="829600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1B7AE-C188-33FF-7A35-75991774C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01917-E955-1327-8545-96BF4B61DAEB}"/>
              </a:ext>
            </a:extLst>
          </p:cNvPr>
          <p:cNvSpPr>
            <a:spLocks noGrp="1"/>
          </p:cNvSpPr>
          <p:nvPr>
            <p:ph type="title"/>
          </p:nvPr>
        </p:nvSpPr>
        <p:spPr/>
        <p:txBody>
          <a:bodyPr/>
          <a:lstStyle/>
          <a:p>
            <a:r>
              <a:rPr lang="ru-RU" dirty="0">
                <a:solidFill>
                  <a:schemeClr val="tx2">
                    <a:lumMod val="75000"/>
                    <a:lumOff val="25000"/>
                  </a:schemeClr>
                </a:solidFill>
              </a:rPr>
              <a:t>Пример </a:t>
            </a:r>
            <a:r>
              <a:rPr lang="ru-RU" dirty="0" err="1">
                <a:solidFill>
                  <a:schemeClr val="tx2">
                    <a:lumMod val="75000"/>
                    <a:lumOff val="25000"/>
                  </a:schemeClr>
                </a:solidFill>
              </a:rPr>
              <a:t>инференса</a:t>
            </a:r>
            <a:r>
              <a:rPr lang="ru-RU" dirty="0">
                <a:solidFill>
                  <a:schemeClr val="tx2">
                    <a:lumMod val="75000"/>
                    <a:lumOff val="25000"/>
                  </a:schemeClr>
                </a:solidFill>
              </a:rPr>
              <a:t> на картинке</a:t>
            </a:r>
            <a:endParaRPr lang="en-RU" dirty="0">
              <a:solidFill>
                <a:schemeClr val="tx2">
                  <a:lumMod val="75000"/>
                  <a:lumOff val="25000"/>
                </a:schemeClr>
              </a:solidFill>
            </a:endParaRPr>
          </a:p>
        </p:txBody>
      </p:sp>
      <p:sp>
        <p:nvSpPr>
          <p:cNvPr id="4" name="Slide Number Placeholder 3">
            <a:extLst>
              <a:ext uri="{FF2B5EF4-FFF2-40B4-BE49-F238E27FC236}">
                <a16:creationId xmlns:a16="http://schemas.microsoft.com/office/drawing/2014/main" id="{CB0AB9D7-E9A6-16D9-6E33-DCE4443C40DB}"/>
              </a:ext>
            </a:extLst>
          </p:cNvPr>
          <p:cNvSpPr>
            <a:spLocks noGrp="1"/>
          </p:cNvSpPr>
          <p:nvPr>
            <p:ph type="sldNum" sz="quarter" idx="12"/>
          </p:nvPr>
        </p:nvSpPr>
        <p:spPr/>
        <p:txBody>
          <a:bodyPr/>
          <a:lstStyle/>
          <a:p>
            <a:fld id="{A825137D-5D54-8448-BF1E-32A34E891867}" type="slidenum">
              <a:rPr lang="en-RU" smtClean="0"/>
              <a:t>34</a:t>
            </a:fld>
            <a:endParaRPr lang="en-RU"/>
          </a:p>
        </p:txBody>
      </p:sp>
      <p:pic>
        <p:nvPicPr>
          <p:cNvPr id="5" name="Picture 4">
            <a:extLst>
              <a:ext uri="{FF2B5EF4-FFF2-40B4-BE49-F238E27FC236}">
                <a16:creationId xmlns:a16="http://schemas.microsoft.com/office/drawing/2014/main" id="{EB695412-02CF-E020-EDB8-51945544A051}"/>
              </a:ext>
            </a:extLst>
          </p:cNvPr>
          <p:cNvPicPr>
            <a:picLocks noChangeAspect="1"/>
          </p:cNvPicPr>
          <p:nvPr/>
        </p:nvPicPr>
        <p:blipFill>
          <a:blip r:embed="rId2"/>
          <a:stretch>
            <a:fillRect/>
          </a:stretch>
        </p:blipFill>
        <p:spPr>
          <a:xfrm>
            <a:off x="5318342" y="6197181"/>
            <a:ext cx="1555315" cy="561469"/>
          </a:xfrm>
          <a:prstGeom prst="rect">
            <a:avLst/>
          </a:prstGeom>
        </p:spPr>
      </p:pic>
      <p:pic>
        <p:nvPicPr>
          <p:cNvPr id="8194" name="Picture 2">
            <a:extLst>
              <a:ext uri="{FF2B5EF4-FFF2-40B4-BE49-F238E27FC236}">
                <a16:creationId xmlns:a16="http://schemas.microsoft.com/office/drawing/2014/main" id="{F2C1ACF7-97DD-D24F-9A20-671428951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0545" y="1556896"/>
            <a:ext cx="6930910" cy="4614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0199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5811</TotalTime>
  <Words>927</Words>
  <Application>Microsoft Macintosh PowerPoint</Application>
  <PresentationFormat>Widescreen</PresentationFormat>
  <Paragraphs>142</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-apple-system</vt:lpstr>
      <vt:lpstr>Aptos</vt:lpstr>
      <vt:lpstr>Aptos Display</vt:lpstr>
      <vt:lpstr>Arial</vt:lpstr>
      <vt:lpstr>Cambria Math</vt:lpstr>
      <vt:lpstr>Helvetica</vt:lpstr>
      <vt:lpstr>Office Theme</vt:lpstr>
      <vt:lpstr>Исследование методов определения характеристик транспортного средства по видеоизображениям</vt:lpstr>
      <vt:lpstr>Актуальность ВКР</vt:lpstr>
      <vt:lpstr>Цель ВКР</vt:lpstr>
      <vt:lpstr>Задачи для теоретической части ВКР</vt:lpstr>
      <vt:lpstr>Задачи для практической части ВКР</vt:lpstr>
      <vt:lpstr>Теоретическая часть ВКР</vt:lpstr>
      <vt:lpstr>Обзор используемых архитектур</vt:lpstr>
      <vt:lpstr>Общая архитектура системы</vt:lpstr>
      <vt:lpstr>YOLOv8</vt:lpstr>
      <vt:lpstr>ResNet18</vt:lpstr>
      <vt:lpstr>EasyOCR</vt:lpstr>
      <vt:lpstr>Используемые метрики</vt:lpstr>
      <vt:lpstr>Intersection over Union (IoU)</vt:lpstr>
      <vt:lpstr>Mean Average Presicion (mAP@t)</vt:lpstr>
      <vt:lpstr>Macro F1-score</vt:lpstr>
      <vt:lpstr>CER</vt:lpstr>
      <vt:lpstr>Практическая часть ВКР</vt:lpstr>
      <vt:lpstr>Notebook1.ipynb</vt:lpstr>
      <vt:lpstr>Детекция ТС</vt:lpstr>
      <vt:lpstr>Детекция номерной плиты</vt:lpstr>
      <vt:lpstr>Графики обучения</vt:lpstr>
      <vt:lpstr>Метрики ANPR</vt:lpstr>
      <vt:lpstr>Notebook-2.ipynb</vt:lpstr>
      <vt:lpstr>Классификация цвета ТС</vt:lpstr>
      <vt:lpstr>Графики обучения</vt:lpstr>
      <vt:lpstr>Метрики </vt:lpstr>
      <vt:lpstr>Метрики</vt:lpstr>
      <vt:lpstr>Примеры классификаций</vt:lpstr>
      <vt:lpstr>Notebook-3.ipynb</vt:lpstr>
      <vt:lpstr>Классификация типа кузова ТС</vt:lpstr>
      <vt:lpstr>Метод обучения ResNet18</vt:lpstr>
      <vt:lpstr>Метрики</vt:lpstr>
      <vt:lpstr>Notebook-4.ipynb</vt:lpstr>
      <vt:lpstr>Пример инференса на картинке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Виталий Клименко</dc:creator>
  <cp:lastModifiedBy>Виталий Клименко</cp:lastModifiedBy>
  <cp:revision>10</cp:revision>
  <dcterms:created xsi:type="dcterms:W3CDTF">2026-05-14T12:19:54Z</dcterms:created>
  <dcterms:modified xsi:type="dcterms:W3CDTF">2026-06-14T11:54:31Z</dcterms:modified>
</cp:coreProperties>
</file>